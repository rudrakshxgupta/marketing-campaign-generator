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1013"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100584"/>
          </a:xfrm>
          <a:prstGeom prst="roundRect">
            <a:avLst>
              <a:gd name="adj" fmla="val 4000"/>
            </a:avLst>
          </a:prstGeom>
          <a:solidFill>
            <a:srgbClr val="0D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1828800"/>
            <a:ext cx="9692640" cy="2377440"/>
          </a:xfrm>
          <a:prstGeom prst="rect">
            <a:avLst/>
          </a:prstGeom>
          <a:noFill/>
        </p:spPr>
        <p:txBody>
          <a:bodyPr wrap="square" lIns="0" tIns="0" rIns="0" bIns="0" anchor="t">
            <a:spAutoFit/>
          </a:bodyPr>
          <a:lstStyle/>
          <a:p>
            <a:pPr algn="l">
              <a:lnSpc>
                <a:spcPct val="135000"/>
              </a:lnSpc>
              <a:spcAft>
                <a:spcPts val="1600"/>
              </a:spcAft>
            </a:pPr>
            <a:r>
              <a:rPr sz="1200" b="1">
                <a:solidFill>
                  <a:srgbClr val="0D7A55"/>
                </a:solidFill>
                <a:latin typeface="Segoe UI"/>
              </a:rPr>
              <a:t>PROJECT SUBMISSION</a:t>
            </a:r>
          </a:p>
          <a:p>
            <a:pPr algn="l">
              <a:lnSpc>
                <a:spcPct val="110000"/>
              </a:lnSpc>
              <a:spcAft>
                <a:spcPts val="1400"/>
              </a:spcAft>
            </a:pPr>
            <a:r>
              <a:rPr sz="3800" b="1">
                <a:solidFill>
                  <a:srgbClr val="141A22"/>
                </a:solidFill>
                <a:latin typeface="Segoe UI"/>
              </a:rPr>
              <a:t>Social Media Content Generation in Multiple Languages</a:t>
            </a:r>
          </a:p>
          <a:p>
            <a:pPr algn="l">
              <a:lnSpc>
                <a:spcPct val="140000"/>
              </a:lnSpc>
              <a:spcAft>
                <a:spcPts val="600"/>
              </a:spcAft>
            </a:pPr>
            <a:r>
              <a:rPr sz="1600" b="0">
                <a:solidFill>
                  <a:srgbClr val="45505E"/>
                </a:solidFill>
                <a:latin typeface="Segoe UI"/>
              </a:rPr>
              <a:t>BrandlyAI — one line of input, Instagram-ready campaigns in seven Indian languages, built on Microsoft AI Foundry.</a:t>
            </a:r>
          </a:p>
        </p:txBody>
      </p:sp>
      <p:sp>
        <p:nvSpPr>
          <p:cNvPr id="4" name="TextBox 3"/>
          <p:cNvSpPr txBox="1"/>
          <p:nvPr/>
        </p:nvSpPr>
        <p:spPr>
          <a:xfrm>
            <a:off x="786384" y="4800600"/>
            <a:ext cx="10058400" cy="1097280"/>
          </a:xfrm>
          <a:prstGeom prst="rect">
            <a:avLst/>
          </a:prstGeom>
          <a:noFill/>
        </p:spPr>
        <p:txBody>
          <a:bodyPr wrap="square" lIns="0" tIns="0" rIns="0" bIns="0" anchor="t">
            <a:spAutoFit/>
          </a:bodyPr>
          <a:lstStyle/>
          <a:p>
            <a:pPr algn="l">
              <a:lnSpc>
                <a:spcPct val="135000"/>
              </a:lnSpc>
              <a:spcAft>
                <a:spcPts val="800"/>
              </a:spcAft>
            </a:pPr>
            <a:r>
              <a:rPr sz="1050" b="1">
                <a:solidFill>
                  <a:srgbClr val="768190"/>
                </a:solidFill>
                <a:latin typeface="Segoe UI"/>
              </a:rPr>
              <a:t>TEAM</a:t>
            </a:r>
          </a:p>
          <a:p>
            <a:pPr algn="l">
              <a:lnSpc>
                <a:spcPct val="140000"/>
              </a:lnSpc>
              <a:spcAft>
                <a:spcPts val="600"/>
              </a:spcAft>
            </a:pPr>
            <a:r>
              <a:rPr sz="1500" b="0">
                <a:solidFill>
                  <a:srgbClr val="141A22"/>
                </a:solidFill>
                <a:latin typeface="Segoe UI"/>
              </a:rPr>
              <a:t>Rudraksh Gupta   ·   Dhruv Kansal   ·   Krrish Aiery   ·   Siddhartha Verma</a:t>
            </a:r>
          </a:p>
        </p:txBody>
      </p:sp>
      <p:sp>
        <p:nvSpPr>
          <p:cNvPr id="5" name="Rectangle 4"/>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7" name="TextBox 6"/>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PROBLEM STATEMENT</a:t>
            </a:r>
          </a:p>
          <a:p>
            <a:pPr algn="l">
              <a:lnSpc>
                <a:spcPct val="112000"/>
              </a:lnSpc>
              <a:spcAft>
                <a:spcPts val="600"/>
              </a:spcAft>
            </a:pPr>
            <a:r>
              <a:rPr sz="3000" b="1">
                <a:solidFill>
                  <a:srgbClr val="141A22"/>
                </a:solidFill>
                <a:latin typeface="Segoe UI"/>
              </a:rPr>
              <a:t>India advertises in English to an audience
that does not read it.</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2</a:t>
            </a:r>
          </a:p>
        </p:txBody>
      </p:sp>
      <p:sp>
        <p:nvSpPr>
          <p:cNvPr id="6" name="TextBox 5"/>
          <p:cNvSpPr txBox="1"/>
          <p:nvPr/>
        </p:nvSpPr>
        <p:spPr>
          <a:xfrm>
            <a:off x="786384" y="2212848"/>
            <a:ext cx="10241280" cy="3657600"/>
          </a:xfrm>
          <a:prstGeom prst="rect">
            <a:avLst/>
          </a:prstGeom>
          <a:noFill/>
        </p:spPr>
        <p:txBody>
          <a:bodyPr wrap="square" lIns="0" tIns="0" rIns="0" bIns="0" anchor="t">
            <a:spAutoFit/>
          </a:bodyPr>
          <a:lstStyle/>
          <a:p>
            <a:pPr algn="l">
              <a:lnSpc>
                <a:spcPct val="135000"/>
              </a:lnSpc>
              <a:spcAft>
                <a:spcPts val="1100"/>
              </a:spcAft>
            </a:pPr>
            <a:r>
              <a:rPr sz="1500" b="1">
                <a:solidFill>
                  <a:srgbClr val="141A22"/>
                </a:solidFill>
                <a:latin typeface="Segoe UI"/>
              </a:rPr>
              <a:t>Scale.  </a:t>
            </a:r>
            <a:r>
              <a:rPr sz="1500">
                <a:solidFill>
                  <a:srgbClr val="45505E"/>
                </a:solidFill>
                <a:latin typeface="Segoe UI"/>
              </a:rPr>
              <a:t>Over 60 million small businesses market on Instagram. Fewer than 11% of Indians speak English; the market that converts reads Hindi, Bengali, Tamil, Telugu, Marathi.</a:t>
            </a:r>
          </a:p>
          <a:p>
            <a:pPr algn="l">
              <a:lnSpc>
                <a:spcPct val="135000"/>
              </a:lnSpc>
              <a:spcAft>
                <a:spcPts val="1100"/>
              </a:spcAft>
            </a:pPr>
            <a:r>
              <a:rPr sz="1500" b="1">
                <a:solidFill>
                  <a:srgbClr val="141A22"/>
                </a:solidFill>
                <a:latin typeface="Segoe UI"/>
              </a:rPr>
              <a:t>Cost.  </a:t>
            </a:r>
            <a:r>
              <a:rPr sz="1500">
                <a:solidFill>
                  <a:srgbClr val="45505E"/>
                </a:solidFill>
                <a:latin typeface="Segoe UI"/>
              </a:rPr>
              <a:t>An agency campaign in five languages runs to tens of thousands of rupees per creative set — out of reach for a single-shop seller.</a:t>
            </a:r>
          </a:p>
          <a:p>
            <a:pPr algn="l">
              <a:lnSpc>
                <a:spcPct val="135000"/>
              </a:lnSpc>
              <a:spcAft>
                <a:spcPts val="1100"/>
              </a:spcAft>
            </a:pPr>
            <a:r>
              <a:rPr sz="1500" b="1">
                <a:solidFill>
                  <a:srgbClr val="141A22"/>
                </a:solidFill>
                <a:latin typeface="Segoe UI"/>
              </a:rPr>
              <a:t>The shortcut fails.  </a:t>
            </a:r>
            <a:r>
              <a:rPr sz="1500">
                <a:solidFill>
                  <a:srgbClr val="45505E"/>
                </a:solidFill>
                <a:latin typeface="Segoe UI"/>
              </a:rPr>
              <a:t>Generating one English post and translating it afterwards produces copy that is accurate and dead, and carries the wrong cultural referent entirely.</a:t>
            </a:r>
          </a:p>
        </p:txBody>
      </p:sp>
      <p:sp>
        <p:nvSpPr>
          <p:cNvPr id="7" name="Rounded Rectangle 6"/>
          <p:cNvSpPr/>
          <p:nvPr/>
        </p:nvSpPr>
        <p:spPr>
          <a:xfrm>
            <a:off x="786384" y="4892040"/>
            <a:ext cx="10618927" cy="1188720"/>
          </a:xfrm>
          <a:prstGeom prst="roundRect">
            <a:avLst>
              <a:gd name="adj" fmla="val 4000"/>
            </a:avLst>
          </a:prstGeom>
          <a:solidFill>
            <a:srgbClr val="E8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8992" y="5074920"/>
            <a:ext cx="10033711" cy="868680"/>
          </a:xfrm>
          <a:prstGeom prst="rect">
            <a:avLst/>
          </a:prstGeom>
          <a:noFill/>
        </p:spPr>
        <p:txBody>
          <a:bodyPr wrap="square" lIns="0" tIns="0" rIns="0" bIns="0" anchor="t">
            <a:spAutoFit/>
          </a:bodyPr>
          <a:lstStyle/>
          <a:p>
            <a:pPr algn="l">
              <a:lnSpc>
                <a:spcPct val="135000"/>
              </a:lnSpc>
              <a:spcAft>
                <a:spcPts val="600"/>
              </a:spcAft>
            </a:pPr>
            <a:r>
              <a:rPr sz="1550" b="1">
                <a:solidFill>
                  <a:srgbClr val="141A22"/>
                </a:solidFill>
                <a:latin typeface="Segoe UI"/>
              </a:rPr>
              <a:t>A Diwali line translated into Bengali is still a Diwali line — when the campaign that audience responds to is Durga Puja.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GAP ANALYSIS</a:t>
            </a:r>
          </a:p>
          <a:p>
            <a:pPr algn="l">
              <a:lnSpc>
                <a:spcPct val="112000"/>
              </a:lnSpc>
              <a:spcAft>
                <a:spcPts val="600"/>
              </a:spcAft>
            </a:pPr>
            <a:r>
              <a:rPr sz="3000" b="1">
                <a:solidFill>
                  <a:srgbClr val="141A22"/>
                </a:solidFill>
                <a:latin typeface="Segoe UI"/>
              </a:rPr>
              <a:t>Why existing tools do not solve it</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3</a:t>
            </a:r>
          </a:p>
        </p:txBody>
      </p:sp>
      <p:sp>
        <p:nvSpPr>
          <p:cNvPr id="6" name="Rounded Rectangle 5"/>
          <p:cNvSpPr/>
          <p:nvPr/>
        </p:nvSpPr>
        <p:spPr>
          <a:xfrm>
            <a:off x="786384" y="2212848"/>
            <a:ext cx="3368954" cy="20574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432304"/>
            <a:ext cx="2893466" cy="16184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Canva / templates</a:t>
            </a:r>
          </a:p>
          <a:p>
            <a:pPr algn="l">
              <a:lnSpc>
                <a:spcPct val="134000"/>
              </a:lnSpc>
              <a:spcAft>
                <a:spcPts val="600"/>
              </a:spcAft>
            </a:pPr>
            <a:r>
              <a:rPr sz="1150" b="0">
                <a:solidFill>
                  <a:srgbClr val="45505E"/>
                </a:solidFill>
                <a:latin typeface="Segoe UI"/>
              </a:rPr>
              <a:t>Human designs the layout and writes every language by hand. No generation, no scale, and Indic text is typed into a box that was never metric-tested for it.</a:t>
            </a:r>
          </a:p>
        </p:txBody>
      </p:sp>
      <p:sp>
        <p:nvSpPr>
          <p:cNvPr id="8" name="Rounded Rectangle 7"/>
          <p:cNvSpPr/>
          <p:nvPr/>
        </p:nvSpPr>
        <p:spPr>
          <a:xfrm>
            <a:off x="4411370" y="2212848"/>
            <a:ext cx="3368954" cy="20574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49114" y="2432304"/>
            <a:ext cx="2893466" cy="16184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ChatGPT + an image model</a:t>
            </a:r>
          </a:p>
          <a:p>
            <a:pPr algn="l">
              <a:lnSpc>
                <a:spcPct val="134000"/>
              </a:lnSpc>
              <a:spcAft>
                <a:spcPts val="600"/>
              </a:spcAft>
            </a:pPr>
            <a:r>
              <a:rPr sz="1150" b="0">
                <a:solidFill>
                  <a:srgbClr val="45505E"/>
                </a:solidFill>
                <a:latin typeface="Segoe UI"/>
              </a:rPr>
              <a:t>Produces an English image with lettering drawn *into* the picture. Ask for Devanagari and the model garbles it — plausibly enough that an English speaker ships it.</a:t>
            </a:r>
          </a:p>
        </p:txBody>
      </p:sp>
      <p:sp>
        <p:nvSpPr>
          <p:cNvPr id="10" name="Rounded Rectangle 9"/>
          <p:cNvSpPr/>
          <p:nvPr/>
        </p:nvSpPr>
        <p:spPr>
          <a:xfrm>
            <a:off x="8036356" y="2212848"/>
            <a:ext cx="3368954" cy="20574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4100" y="2432304"/>
            <a:ext cx="2893466" cy="16184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Ad platforms' auto-translate</a:t>
            </a:r>
          </a:p>
          <a:p>
            <a:pPr algn="l">
              <a:lnSpc>
                <a:spcPct val="134000"/>
              </a:lnSpc>
              <a:spcAft>
                <a:spcPts val="600"/>
              </a:spcAft>
            </a:pPr>
            <a:r>
              <a:rPr sz="1150" b="0">
                <a:solidFill>
                  <a:srgbClr val="45505E"/>
                </a:solidFill>
                <a:latin typeface="Segoe UI"/>
              </a:rPr>
              <a:t>Translates finished copy. The words change; the festival, the idiom and the offer framing do not.</a:t>
            </a:r>
          </a:p>
        </p:txBody>
      </p:sp>
      <p:sp>
        <p:nvSpPr>
          <p:cNvPr id="12" name="TextBox 11"/>
          <p:cNvSpPr txBox="1"/>
          <p:nvPr/>
        </p:nvSpPr>
        <p:spPr>
          <a:xfrm>
            <a:off x="786384" y="5029200"/>
            <a:ext cx="10424160" cy="914400"/>
          </a:xfrm>
          <a:prstGeom prst="rect">
            <a:avLst/>
          </a:prstGeom>
          <a:noFill/>
        </p:spPr>
        <p:txBody>
          <a:bodyPr wrap="square" lIns="0" tIns="0" rIns="0" bIns="0" anchor="t">
            <a:spAutoFit/>
          </a:bodyPr>
          <a:lstStyle/>
          <a:p>
            <a:pPr algn="l">
              <a:lnSpc>
                <a:spcPct val="135000"/>
              </a:lnSpc>
              <a:spcAft>
                <a:spcPts val="600"/>
              </a:spcAft>
            </a:pPr>
            <a:r>
              <a:rPr sz="1500" b="1">
                <a:solidFill>
                  <a:srgbClr val="141A22"/>
                </a:solidFill>
                <a:latin typeface="Segoe UI"/>
              </a:rPr>
              <a:t>None of them can put correct Tamil typography on a generated photograph at a price a small seller will pay. That is the gap.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OBJECTIVES</a:t>
            </a:r>
          </a:p>
          <a:p>
            <a:pPr algn="l">
              <a:lnSpc>
                <a:spcPct val="112000"/>
              </a:lnSpc>
              <a:spcAft>
                <a:spcPts val="600"/>
              </a:spcAft>
            </a:pPr>
            <a:r>
              <a:rPr sz="3000" b="1">
                <a:solidFill>
                  <a:srgbClr val="141A22"/>
                </a:solidFill>
                <a:latin typeface="Segoe UI"/>
              </a:rPr>
              <a:t>What the system had to achieve</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4</a:t>
            </a:r>
          </a:p>
        </p:txBody>
      </p:sp>
      <p:sp>
        <p:nvSpPr>
          <p:cNvPr id="6" name="Rounded Rectangle 5"/>
          <p:cNvSpPr/>
          <p:nvPr/>
        </p:nvSpPr>
        <p:spPr>
          <a:xfrm>
            <a:off x="786384" y="2212848"/>
            <a:ext cx="3368954" cy="16002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432304"/>
            <a:ext cx="2893466" cy="11612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1 — Minimal input</a:t>
            </a:r>
          </a:p>
          <a:p>
            <a:pPr algn="l">
              <a:lnSpc>
                <a:spcPct val="134000"/>
              </a:lnSpc>
              <a:spcAft>
                <a:spcPts val="600"/>
              </a:spcAft>
            </a:pPr>
            <a:r>
              <a:rPr sz="1150" b="0">
                <a:solidFill>
                  <a:srgbClr val="45505E"/>
                </a:solidFill>
                <a:latin typeface="Segoe UI"/>
              </a:rPr>
              <a:t>The user supplies only what they sell. The brief, the proposition, the occasion and the copy are all derived.</a:t>
            </a:r>
          </a:p>
        </p:txBody>
      </p:sp>
      <p:sp>
        <p:nvSpPr>
          <p:cNvPr id="8" name="Rounded Rectangle 7"/>
          <p:cNvSpPr/>
          <p:nvPr/>
        </p:nvSpPr>
        <p:spPr>
          <a:xfrm>
            <a:off x="4411370" y="2212848"/>
            <a:ext cx="3368954" cy="16002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49114" y="2432304"/>
            <a:ext cx="2893466" cy="11612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2 — Correct Indic typography</a:t>
            </a:r>
          </a:p>
          <a:p>
            <a:pPr algn="l">
              <a:lnSpc>
                <a:spcPct val="134000"/>
              </a:lnSpc>
              <a:spcAft>
                <a:spcPts val="600"/>
              </a:spcAft>
            </a:pPr>
            <a:r>
              <a:rPr sz="1150" b="0">
                <a:solidFill>
                  <a:srgbClr val="45505E"/>
                </a:solidFill>
                <a:latin typeface="Segoe UI"/>
              </a:rPr>
              <a:t>Conjuncts, matras and reordering right in every script — verified, not assumed.</a:t>
            </a:r>
          </a:p>
        </p:txBody>
      </p:sp>
      <p:sp>
        <p:nvSpPr>
          <p:cNvPr id="10" name="Rounded Rectangle 9"/>
          <p:cNvSpPr/>
          <p:nvPr/>
        </p:nvSpPr>
        <p:spPr>
          <a:xfrm>
            <a:off x="8036356" y="2212848"/>
            <a:ext cx="3368954" cy="16002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4100" y="2432304"/>
            <a:ext cx="2893466" cy="11612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3 — Culturally correct copy</a:t>
            </a:r>
          </a:p>
          <a:p>
            <a:pPr algn="l">
              <a:lnSpc>
                <a:spcPct val="134000"/>
              </a:lnSpc>
              <a:spcAft>
                <a:spcPts val="600"/>
              </a:spcAft>
            </a:pPr>
            <a:r>
              <a:rPr sz="1150" b="0">
                <a:solidFill>
                  <a:srgbClr val="45505E"/>
                </a:solidFill>
                <a:latin typeface="Segoe UI"/>
              </a:rPr>
              <a:t>Authored per language from a shared strategy, so the festival changes and not only the words.</a:t>
            </a:r>
          </a:p>
        </p:txBody>
      </p:sp>
      <p:sp>
        <p:nvSpPr>
          <p:cNvPr id="12" name="Rounded Rectangle 11"/>
          <p:cNvSpPr/>
          <p:nvPr/>
        </p:nvSpPr>
        <p:spPr>
          <a:xfrm>
            <a:off x="786384" y="4069080"/>
            <a:ext cx="3368954" cy="16002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4288536"/>
            <a:ext cx="2893466" cy="11612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4 — Economical</a:t>
            </a:r>
          </a:p>
          <a:p>
            <a:pPr algn="l">
              <a:lnSpc>
                <a:spcPct val="134000"/>
              </a:lnSpc>
              <a:spcAft>
                <a:spcPts val="600"/>
              </a:spcAft>
            </a:pPr>
            <a:r>
              <a:rPr sz="1150" b="0">
                <a:solidFill>
                  <a:srgbClr val="45505E"/>
                </a:solidFill>
                <a:latin typeface="Segoe UI"/>
              </a:rPr>
              <a:t>Adding a language must not cost another generation.</a:t>
            </a:r>
          </a:p>
        </p:txBody>
      </p:sp>
      <p:sp>
        <p:nvSpPr>
          <p:cNvPr id="14" name="Rounded Rectangle 13"/>
          <p:cNvSpPr/>
          <p:nvPr/>
        </p:nvSpPr>
        <p:spPr>
          <a:xfrm>
            <a:off x="4411370" y="4069080"/>
            <a:ext cx="3368954" cy="16002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49114" y="4288536"/>
            <a:ext cx="2893466" cy="11612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5 — Truthful</a:t>
            </a:r>
          </a:p>
          <a:p>
            <a:pPr algn="l">
              <a:lnSpc>
                <a:spcPct val="134000"/>
              </a:lnSpc>
              <a:spcAft>
                <a:spcPts val="600"/>
              </a:spcAft>
            </a:pPr>
            <a:r>
              <a:rPr sz="1150" b="0">
                <a:solidFill>
                  <a:srgbClr val="45505E"/>
                </a:solidFill>
                <a:latin typeface="Segoe UI"/>
              </a:rPr>
              <a:t>No invented claims, and a real subject must not be reinvented.</a:t>
            </a:r>
          </a:p>
        </p:txBody>
      </p:sp>
      <p:sp>
        <p:nvSpPr>
          <p:cNvPr id="16" name="Rounded Rectangle 15"/>
          <p:cNvSpPr/>
          <p:nvPr/>
        </p:nvSpPr>
        <p:spPr>
          <a:xfrm>
            <a:off x="8036356" y="4069080"/>
            <a:ext cx="3368954" cy="16002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4100" y="4288536"/>
            <a:ext cx="2893466" cy="11612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6 — Publishable</a:t>
            </a:r>
          </a:p>
          <a:p>
            <a:pPr algn="l">
              <a:lnSpc>
                <a:spcPct val="134000"/>
              </a:lnSpc>
              <a:spcAft>
                <a:spcPts val="600"/>
              </a:spcAft>
            </a:pPr>
            <a:r>
              <a:rPr sz="1150" b="0">
                <a:solidFill>
                  <a:srgbClr val="45505E"/>
                </a:solidFill>
                <a:latin typeface="Segoe UI"/>
              </a:rPr>
              <a:t>Instagram formats and safe zones enforced, not merely suggested.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FEASIBILITY STUDY</a:t>
            </a:r>
          </a:p>
          <a:p>
            <a:pPr algn="l">
              <a:lnSpc>
                <a:spcPct val="112000"/>
              </a:lnSpc>
              <a:spcAft>
                <a:spcPts val="600"/>
              </a:spcAft>
            </a:pPr>
            <a:r>
              <a:rPr sz="3000" b="1">
                <a:solidFill>
                  <a:srgbClr val="141A22"/>
                </a:solidFill>
                <a:latin typeface="Segoe UI"/>
              </a:rPr>
              <a:t>Three measured platform facts, established first</a:t>
            </a:r>
          </a:p>
        </p:txBody>
      </p:sp>
      <p:sp>
        <p:nvSpPr>
          <p:cNvPr id="3" name="TextBox 2"/>
          <p:cNvSpPr txBox="1"/>
          <p:nvPr/>
        </p:nvSpPr>
        <p:spPr>
          <a:xfrm>
            <a:off x="786384" y="1783080"/>
            <a:ext cx="9326880" cy="822960"/>
          </a:xfrm>
          <a:prstGeom prst="rect">
            <a:avLst/>
          </a:prstGeom>
          <a:noFill/>
        </p:spPr>
        <p:txBody>
          <a:bodyPr wrap="square" lIns="0" tIns="0" rIns="0" bIns="0" anchor="t">
            <a:spAutoFit/>
          </a:bodyPr>
          <a:lstStyle/>
          <a:p>
            <a:pPr algn="l">
              <a:lnSpc>
                <a:spcPct val="135000"/>
              </a:lnSpc>
              <a:spcAft>
                <a:spcPts val="600"/>
              </a:spcAft>
            </a:pPr>
            <a:r>
              <a:rPr sz="1500" b="0">
                <a:solidFill>
                  <a:srgbClr val="45505E"/>
                </a:solidFill>
                <a:latin typeface="Segoe UI"/>
              </a:rPr>
              <a:t>Each was verified against the live platform before any code was written. Every structural decision that follows is forced by one of them.</a:t>
            </a:r>
          </a:p>
        </p:txBody>
      </p:sp>
      <p:sp>
        <p:nvSpPr>
          <p:cNvPr id="4" name="Rectangle 3"/>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6" name="TextBox 5"/>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5</a:t>
            </a:r>
          </a:p>
        </p:txBody>
      </p:sp>
      <p:sp>
        <p:nvSpPr>
          <p:cNvPr id="7" name="Rounded Rectangle 6"/>
          <p:cNvSpPr/>
          <p:nvPr/>
        </p:nvSpPr>
        <p:spPr>
          <a:xfrm>
            <a:off x="786384" y="2743200"/>
            <a:ext cx="3368954" cy="210312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2962656"/>
            <a:ext cx="2893466" cy="166420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Image models are English-only</a:t>
            </a:r>
          </a:p>
          <a:p>
            <a:pPr algn="l">
              <a:lnSpc>
                <a:spcPct val="134000"/>
              </a:lnSpc>
              <a:spcAft>
                <a:spcPts val="600"/>
              </a:spcAft>
            </a:pPr>
            <a:r>
              <a:rPr sz="1150" b="0">
                <a:solidFill>
                  <a:srgbClr val="45505E"/>
                </a:solidFill>
                <a:latin typeface="Segoe UI"/>
              </a:rPr>
              <a:t>They declare Languages: en. Diffusion garbles Indic scripts in a uniquely dangerous way — plausible to an English-speaking operator, illiterate to the audience.</a:t>
            </a:r>
          </a:p>
        </p:txBody>
      </p:sp>
      <p:sp>
        <p:nvSpPr>
          <p:cNvPr id="9" name="Rounded Rectangle 8"/>
          <p:cNvSpPr/>
          <p:nvPr/>
        </p:nvSpPr>
        <p:spPr>
          <a:xfrm>
            <a:off x="4411370" y="2743200"/>
            <a:ext cx="3368954" cy="210312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49114" y="2962656"/>
            <a:ext cx="2893466" cy="166420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Generation is rate-limited and billed</a:t>
            </a:r>
          </a:p>
          <a:p>
            <a:pPr algn="l">
              <a:lnSpc>
                <a:spcPct val="134000"/>
              </a:lnSpc>
              <a:spcAft>
                <a:spcPts val="600"/>
              </a:spcAft>
            </a:pPr>
            <a:r>
              <a:rPr sz="1150" b="0">
                <a:solidFill>
                  <a:srgbClr val="45505E"/>
                </a:solidFill>
                <a:latin typeface="Segoe UI"/>
              </a:rPr>
              <a:t>2–15 requests per minute. Seven languages across four formats as separate calls is neither affordable nor fast.</a:t>
            </a:r>
          </a:p>
        </p:txBody>
      </p:sp>
      <p:sp>
        <p:nvSpPr>
          <p:cNvPr id="11" name="Rounded Rectangle 10"/>
          <p:cNvSpPr/>
          <p:nvPr/>
        </p:nvSpPr>
        <p:spPr>
          <a:xfrm>
            <a:off x="8036356" y="2743200"/>
            <a:ext cx="3368954" cy="210312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74100" y="2962656"/>
            <a:ext cx="2893466" cy="166420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OCR cannot read the scripts</a:t>
            </a:r>
          </a:p>
          <a:p>
            <a:pPr algn="l">
              <a:lnSpc>
                <a:spcPct val="134000"/>
              </a:lnSpc>
              <a:spcAft>
                <a:spcPts val="600"/>
              </a:spcAft>
            </a:pPr>
            <a:r>
              <a:rPr sz="1150" b="0">
                <a:solidFill>
                  <a:srgbClr val="45505E"/>
                </a:solidFill>
                <a:latin typeface="Segoe UI"/>
              </a:rPr>
              <a:t>Azure Vision Read covers none of Bengali, Tamil, Telugu, Kannada, Malayalam, Gujarati, Gurmukhi or Odia. Model-drawn text could not be verified even if we wanted it.</a:t>
            </a:r>
          </a:p>
        </p:txBody>
      </p:sp>
      <p:sp>
        <p:nvSpPr>
          <p:cNvPr id="13" name="TextBox 12"/>
          <p:cNvSpPr txBox="1"/>
          <p:nvPr/>
        </p:nvSpPr>
        <p:spPr>
          <a:xfrm>
            <a:off x="786384" y="5120640"/>
            <a:ext cx="10424160" cy="822960"/>
          </a:xfrm>
          <a:prstGeom prst="rect">
            <a:avLst/>
          </a:prstGeom>
          <a:noFill/>
        </p:spPr>
        <p:txBody>
          <a:bodyPr wrap="square" lIns="0" tIns="0" rIns="0" bIns="0" anchor="t">
            <a:spAutoFit/>
          </a:bodyPr>
          <a:lstStyle/>
          <a:p>
            <a:pPr algn="l">
              <a:lnSpc>
                <a:spcPct val="135000"/>
              </a:lnSpc>
              <a:spcAft>
                <a:spcPts val="600"/>
              </a:spcAft>
            </a:pPr>
            <a:r>
              <a:rPr sz="1500" b="1">
                <a:solidFill>
                  <a:srgbClr val="141A22"/>
                </a:solidFill>
                <a:latin typeface="Segoe UI"/>
              </a:rPr>
              <a:t>All three point the same way — and that convergence is the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PROPOSED SOLUTION</a:t>
            </a:r>
          </a:p>
          <a:p>
            <a:pPr algn="l">
              <a:lnSpc>
                <a:spcPct val="112000"/>
              </a:lnSpc>
              <a:spcAft>
                <a:spcPts val="600"/>
              </a:spcAft>
            </a:pPr>
            <a:r>
              <a:rPr sz="3000" b="1">
                <a:solidFill>
                  <a:srgbClr val="141A22"/>
                </a:solidFill>
                <a:latin typeface="Segoe UI"/>
              </a:rPr>
              <a:t>Generate one text-free image.
Composite every language on top.</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6</a:t>
            </a:r>
          </a:p>
        </p:txBody>
      </p:sp>
      <p:sp>
        <p:nvSpPr>
          <p:cNvPr id="6" name="TextBox 5"/>
          <p:cNvSpPr txBox="1"/>
          <p:nvPr/>
        </p:nvSpPr>
        <p:spPr>
          <a:xfrm>
            <a:off x="786384" y="2212848"/>
            <a:ext cx="10424160" cy="3657600"/>
          </a:xfrm>
          <a:prstGeom prst="rect">
            <a:avLst/>
          </a:prstGeom>
          <a:noFill/>
        </p:spPr>
        <p:txBody>
          <a:bodyPr wrap="square" lIns="0" tIns="0" rIns="0" bIns="0" anchor="t">
            <a:spAutoFit/>
          </a:bodyPr>
          <a:lstStyle/>
          <a:p>
            <a:pPr algn="l">
              <a:lnSpc>
                <a:spcPct val="135000"/>
              </a:lnSpc>
              <a:spcAft>
                <a:spcPts val="1100"/>
              </a:spcAft>
            </a:pPr>
            <a:r>
              <a:rPr sz="1500" b="1">
                <a:solidFill>
                  <a:srgbClr val="141A22"/>
                </a:solidFill>
                <a:latin typeface="Segoe UI"/>
              </a:rPr>
              <a:t>The image model never draws text.  </a:t>
            </a:r>
            <a:r>
              <a:rPr sz="1500">
                <a:solidFill>
                  <a:srgbClr val="45505E"/>
                </a:solidFill>
                <a:latin typeface="Segoe UI"/>
              </a:rPr>
              <a:t>It is asked for a photograph with a named region deliberately left clean.</a:t>
            </a:r>
          </a:p>
          <a:p>
            <a:pPr algn="l">
              <a:lnSpc>
                <a:spcPct val="135000"/>
              </a:lnSpc>
              <a:spcAft>
                <a:spcPts val="1100"/>
              </a:spcAft>
            </a:pPr>
            <a:r>
              <a:rPr sz="1500" b="1">
                <a:solidFill>
                  <a:srgbClr val="141A22"/>
                </a:solidFill>
                <a:latin typeface="Segoe UI"/>
              </a:rPr>
              <a:t>Typography is typeset, not generated.  </a:t>
            </a:r>
            <a:r>
              <a:rPr sz="1500">
                <a:solidFill>
                  <a:srgbClr val="45505E"/>
                </a:solidFill>
                <a:latin typeface="Segoe UI"/>
              </a:rPr>
              <a:t>Headless Chromium carries HarfBuzz and ICU — the same shaping engine a browser uses, continuously tested against these scripts by a browser vendor.</a:t>
            </a:r>
          </a:p>
          <a:p>
            <a:pPr algn="l">
              <a:lnSpc>
                <a:spcPct val="135000"/>
              </a:lnSpc>
              <a:spcAft>
                <a:spcPts val="1100"/>
              </a:spcAft>
            </a:pPr>
            <a:r>
              <a:rPr sz="1500" b="1">
                <a:solidFill>
                  <a:srgbClr val="141A22"/>
                </a:solidFill>
                <a:latin typeface="Segoe UI"/>
              </a:rPr>
              <a:t>The logo is composited from the real file.  </a:t>
            </a:r>
            <a:r>
              <a:rPr sz="1500">
                <a:solidFill>
                  <a:srgbClr val="45505E"/>
                </a:solidFill>
                <a:latin typeface="Segoe UI"/>
              </a:rPr>
              <a:t>A generated logo is a wrong logo.</a:t>
            </a:r>
          </a:p>
        </p:txBody>
      </p:sp>
      <p:sp>
        <p:nvSpPr>
          <p:cNvPr id="7" name="Rounded Rectangle 6"/>
          <p:cNvSpPr/>
          <p:nvPr/>
        </p:nvSpPr>
        <p:spPr>
          <a:xfrm>
            <a:off x="786384" y="4663440"/>
            <a:ext cx="10618927" cy="141732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864608"/>
            <a:ext cx="9997135" cy="1051560"/>
          </a:xfrm>
          <a:prstGeom prst="rect">
            <a:avLst/>
          </a:prstGeom>
          <a:noFill/>
        </p:spPr>
        <p:txBody>
          <a:bodyPr wrap="square" lIns="0" tIns="0" rIns="0" bIns="0" anchor="t">
            <a:spAutoFit/>
          </a:bodyPr>
          <a:lstStyle/>
          <a:p>
            <a:pPr algn="l">
              <a:lnSpc>
                <a:spcPct val="135000"/>
              </a:lnSpc>
              <a:spcAft>
                <a:spcPts val="800"/>
              </a:spcAft>
            </a:pPr>
            <a:r>
              <a:rPr sz="1100" b="1">
                <a:solidFill>
                  <a:srgbClr val="0D7A55"/>
                </a:solidFill>
                <a:latin typeface="Segoe UI"/>
              </a:rPr>
              <a:t>Consequences</a:t>
            </a:r>
          </a:p>
          <a:p>
            <a:pPr algn="l">
              <a:lnSpc>
                <a:spcPct val="135000"/>
              </a:lnSpc>
              <a:spcAft>
                <a:spcPts val="600"/>
              </a:spcAft>
            </a:pPr>
            <a:r>
              <a:rPr sz="1400" b="0">
                <a:solidFill>
                  <a:srgbClr val="141A22"/>
                </a:solidFill>
                <a:latin typeface="Segoe UI"/>
              </a:rPr>
              <a:t>The seventh language costs zero model calls  ·  the logo is byte-exact rather than hallucinated  ·  QA for the text path becomes arithmetic instead of inference.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SYSTEM ARCHITECTURE</a:t>
            </a:r>
          </a:p>
          <a:p>
            <a:pPr algn="l">
              <a:lnSpc>
                <a:spcPct val="112000"/>
              </a:lnSpc>
              <a:spcAft>
                <a:spcPts val="600"/>
              </a:spcAft>
            </a:pPr>
            <a:r>
              <a:rPr sz="3000" b="1">
                <a:solidFill>
                  <a:srgbClr val="141A22"/>
                </a:solidFill>
                <a:latin typeface="Segoe UI"/>
              </a:rPr>
              <a:t>Pipeline</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7</a:t>
            </a:r>
          </a:p>
        </p:txBody>
      </p:sp>
      <p:sp>
        <p:nvSpPr>
          <p:cNvPr id="6" name="Rounded Rectangle 5"/>
          <p:cNvSpPr/>
          <p:nvPr/>
        </p:nvSpPr>
        <p:spPr>
          <a:xfrm>
            <a:off x="786384" y="2212848"/>
            <a:ext cx="1647901" cy="224028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0976" y="2395728"/>
            <a:ext cx="1318717" cy="1874519"/>
          </a:xfrm>
          <a:prstGeom prst="rect">
            <a:avLst/>
          </a:prstGeom>
          <a:noFill/>
        </p:spPr>
        <p:txBody>
          <a:bodyPr wrap="square" lIns="0" tIns="0" rIns="0" bIns="0" anchor="t">
            <a:spAutoFit/>
          </a:bodyPr>
          <a:lstStyle/>
          <a:p>
            <a:pPr algn="l">
              <a:lnSpc>
                <a:spcPct val="135000"/>
              </a:lnSpc>
              <a:spcAft>
                <a:spcPts val="700"/>
              </a:spcAft>
            </a:pPr>
            <a:r>
              <a:rPr sz="1100" b="1">
                <a:solidFill>
                  <a:srgbClr val="768190"/>
                </a:solidFill>
                <a:latin typeface="Segoe UI"/>
              </a:rPr>
              <a:t>1</a:t>
            </a:r>
          </a:p>
          <a:p>
            <a:pPr algn="l">
              <a:lnSpc>
                <a:spcPct val="115000"/>
              </a:lnSpc>
              <a:spcAft>
                <a:spcPts val="700"/>
              </a:spcAft>
            </a:pPr>
            <a:r>
              <a:rPr sz="1300" b="1">
                <a:solidFill>
                  <a:srgbClr val="141A22"/>
                </a:solidFill>
                <a:latin typeface="Segoe UI"/>
              </a:rPr>
              <a:t>Brief compiler</a:t>
            </a:r>
          </a:p>
          <a:p>
            <a:pPr algn="l">
              <a:lnSpc>
                <a:spcPct val="130000"/>
              </a:lnSpc>
              <a:spcAft>
                <a:spcPts val="600"/>
              </a:spcAft>
            </a:pPr>
            <a:r>
              <a:rPr sz="1000" b="0">
                <a:solidFill>
                  <a:srgbClr val="45505E"/>
                </a:solidFill>
                <a:latin typeface="Segoe UI"/>
              </a:rPr>
              <a:t>One line becomes a photograph, a proposition, an occasion and a reserved region</a:t>
            </a:r>
          </a:p>
        </p:txBody>
      </p:sp>
      <p:sp>
        <p:nvSpPr>
          <p:cNvPr id="8" name="Rounded Rectangle 7"/>
          <p:cNvSpPr/>
          <p:nvPr/>
        </p:nvSpPr>
        <p:spPr>
          <a:xfrm>
            <a:off x="2580589" y="2212848"/>
            <a:ext cx="1647901" cy="224028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5181" y="2395728"/>
            <a:ext cx="1318717" cy="1874519"/>
          </a:xfrm>
          <a:prstGeom prst="rect">
            <a:avLst/>
          </a:prstGeom>
          <a:noFill/>
        </p:spPr>
        <p:txBody>
          <a:bodyPr wrap="square" lIns="0" tIns="0" rIns="0" bIns="0" anchor="t">
            <a:spAutoFit/>
          </a:bodyPr>
          <a:lstStyle/>
          <a:p>
            <a:pPr algn="l">
              <a:lnSpc>
                <a:spcPct val="135000"/>
              </a:lnSpc>
              <a:spcAft>
                <a:spcPts val="700"/>
              </a:spcAft>
            </a:pPr>
            <a:r>
              <a:rPr sz="1100" b="1">
                <a:solidFill>
                  <a:srgbClr val="768190"/>
                </a:solidFill>
                <a:latin typeface="Segoe UI"/>
              </a:rPr>
              <a:t>2</a:t>
            </a:r>
          </a:p>
          <a:p>
            <a:pPr algn="l">
              <a:lnSpc>
                <a:spcPct val="115000"/>
              </a:lnSpc>
              <a:spcAft>
                <a:spcPts val="700"/>
              </a:spcAft>
            </a:pPr>
            <a:r>
              <a:rPr sz="1300" b="1">
                <a:solidFill>
                  <a:srgbClr val="141A22"/>
                </a:solidFill>
                <a:latin typeface="Segoe UI"/>
              </a:rPr>
              <a:t>Prompt renderer</a:t>
            </a:r>
          </a:p>
          <a:p>
            <a:pPr algn="l">
              <a:lnSpc>
                <a:spcPct val="130000"/>
              </a:lnSpc>
              <a:spcAft>
                <a:spcPts val="600"/>
              </a:spcAft>
            </a:pPr>
            <a:r>
              <a:rPr sz="1000" b="0">
                <a:solidFill>
                  <a:srgbClr val="45505E"/>
                </a:solidFill>
                <a:latin typeface="Segoe UI"/>
              </a:rPr>
              <a:t>A pure function, not a model, so the safety clauses cannot be dropped</a:t>
            </a:r>
          </a:p>
        </p:txBody>
      </p:sp>
      <p:sp>
        <p:nvSpPr>
          <p:cNvPr id="10" name="Rounded Rectangle 9"/>
          <p:cNvSpPr/>
          <p:nvPr/>
        </p:nvSpPr>
        <p:spPr>
          <a:xfrm>
            <a:off x="4374794" y="2212848"/>
            <a:ext cx="1647901" cy="2240280"/>
          </a:xfrm>
          <a:prstGeom prst="roundRect">
            <a:avLst>
              <a:gd name="adj" fmla="val 4000"/>
            </a:avLst>
          </a:prstGeom>
          <a:solidFill>
            <a:srgbClr val="E8F3EE"/>
          </a:solidFill>
          <a:ln w="19050">
            <a:solidFill>
              <a:srgbClr val="0D7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9386" y="2395728"/>
            <a:ext cx="1318717" cy="1874519"/>
          </a:xfrm>
          <a:prstGeom prst="rect">
            <a:avLst/>
          </a:prstGeom>
          <a:noFill/>
        </p:spPr>
        <p:txBody>
          <a:bodyPr wrap="square" lIns="0" tIns="0" rIns="0" bIns="0" anchor="t">
            <a:spAutoFit/>
          </a:bodyPr>
          <a:lstStyle/>
          <a:p>
            <a:pPr algn="l">
              <a:lnSpc>
                <a:spcPct val="135000"/>
              </a:lnSpc>
              <a:spcAft>
                <a:spcPts val="700"/>
              </a:spcAft>
            </a:pPr>
            <a:r>
              <a:rPr sz="1100" b="1">
                <a:solidFill>
                  <a:srgbClr val="0D7A55"/>
                </a:solidFill>
                <a:latin typeface="Segoe UI"/>
              </a:rPr>
              <a:t>3</a:t>
            </a:r>
          </a:p>
          <a:p>
            <a:pPr algn="l">
              <a:lnSpc>
                <a:spcPct val="115000"/>
              </a:lnSpc>
              <a:spcAft>
                <a:spcPts val="700"/>
              </a:spcAft>
            </a:pPr>
            <a:r>
              <a:rPr sz="1300" b="1">
                <a:solidFill>
                  <a:srgbClr val="141A22"/>
                </a:solidFill>
                <a:latin typeface="Segoe UI"/>
              </a:rPr>
              <a:t>Image generation</a:t>
            </a:r>
          </a:p>
          <a:p>
            <a:pPr algn="l">
              <a:lnSpc>
                <a:spcPct val="130000"/>
              </a:lnSpc>
              <a:spcAft>
                <a:spcPts val="600"/>
              </a:spcAft>
            </a:pPr>
            <a:r>
              <a:rPr sz="1000" b="0">
                <a:solidFill>
                  <a:srgbClr val="45505E"/>
                </a:solidFill>
                <a:latin typeface="Segoe UI"/>
              </a:rPr>
              <a:t>FLUX.2-pro. The only rate-limited step in the system</a:t>
            </a:r>
          </a:p>
        </p:txBody>
      </p:sp>
      <p:sp>
        <p:nvSpPr>
          <p:cNvPr id="12" name="Rounded Rectangle 11"/>
          <p:cNvSpPr/>
          <p:nvPr/>
        </p:nvSpPr>
        <p:spPr>
          <a:xfrm>
            <a:off x="6168999" y="2212848"/>
            <a:ext cx="1647901" cy="224028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3591" y="2395728"/>
            <a:ext cx="1318717" cy="1874519"/>
          </a:xfrm>
          <a:prstGeom prst="rect">
            <a:avLst/>
          </a:prstGeom>
          <a:noFill/>
        </p:spPr>
        <p:txBody>
          <a:bodyPr wrap="square" lIns="0" tIns="0" rIns="0" bIns="0" anchor="t">
            <a:spAutoFit/>
          </a:bodyPr>
          <a:lstStyle/>
          <a:p>
            <a:pPr algn="l">
              <a:lnSpc>
                <a:spcPct val="135000"/>
              </a:lnSpc>
              <a:spcAft>
                <a:spcPts val="700"/>
              </a:spcAft>
            </a:pPr>
            <a:r>
              <a:rPr sz="1100" b="1">
                <a:solidFill>
                  <a:srgbClr val="768190"/>
                </a:solidFill>
                <a:latin typeface="Segoe UI"/>
              </a:rPr>
              <a:t>4</a:t>
            </a:r>
          </a:p>
          <a:p>
            <a:pPr algn="l">
              <a:lnSpc>
                <a:spcPct val="115000"/>
              </a:lnSpc>
              <a:spcAft>
                <a:spcPts val="700"/>
              </a:spcAft>
            </a:pPr>
            <a:r>
              <a:rPr sz="1300" b="1">
                <a:solidFill>
                  <a:srgbClr val="141A22"/>
                </a:solidFill>
                <a:latin typeface="Segoe UI"/>
              </a:rPr>
              <a:t>Copy writer</a:t>
            </a:r>
          </a:p>
          <a:p>
            <a:pPr algn="l">
              <a:lnSpc>
                <a:spcPct val="130000"/>
              </a:lnSpc>
              <a:spcAft>
                <a:spcPts val="600"/>
              </a:spcAft>
            </a:pPr>
            <a:r>
              <a:rPr sz="1000" b="0">
                <a:solidFill>
                  <a:srgbClr val="45505E"/>
                </a:solidFill>
                <a:latin typeface="Segoe UI"/>
              </a:rPr>
              <a:t>All seven languages authored from one shared strategy, in one call</a:t>
            </a:r>
          </a:p>
        </p:txBody>
      </p:sp>
      <p:sp>
        <p:nvSpPr>
          <p:cNvPr id="14" name="Rounded Rectangle 13"/>
          <p:cNvSpPr/>
          <p:nvPr/>
        </p:nvSpPr>
        <p:spPr>
          <a:xfrm>
            <a:off x="7963204" y="2212848"/>
            <a:ext cx="1647901" cy="224028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27796" y="2395728"/>
            <a:ext cx="1318717" cy="1874519"/>
          </a:xfrm>
          <a:prstGeom prst="rect">
            <a:avLst/>
          </a:prstGeom>
          <a:noFill/>
        </p:spPr>
        <p:txBody>
          <a:bodyPr wrap="square" lIns="0" tIns="0" rIns="0" bIns="0" anchor="t">
            <a:spAutoFit/>
          </a:bodyPr>
          <a:lstStyle/>
          <a:p>
            <a:pPr algn="l">
              <a:lnSpc>
                <a:spcPct val="135000"/>
              </a:lnSpc>
              <a:spcAft>
                <a:spcPts val="700"/>
              </a:spcAft>
            </a:pPr>
            <a:r>
              <a:rPr sz="1100" b="1">
                <a:solidFill>
                  <a:srgbClr val="768190"/>
                </a:solidFill>
                <a:latin typeface="Segoe UI"/>
              </a:rPr>
              <a:t>5</a:t>
            </a:r>
          </a:p>
          <a:p>
            <a:pPr algn="l">
              <a:lnSpc>
                <a:spcPct val="115000"/>
              </a:lnSpc>
              <a:spcAft>
                <a:spcPts val="700"/>
              </a:spcAft>
            </a:pPr>
            <a:r>
              <a:rPr sz="1300" b="1">
                <a:solidFill>
                  <a:srgbClr val="141A22"/>
                </a:solidFill>
                <a:latin typeface="Segoe UI"/>
              </a:rPr>
              <a:t>Typesetter</a:t>
            </a:r>
          </a:p>
          <a:p>
            <a:pPr algn="l">
              <a:lnSpc>
                <a:spcPct val="130000"/>
              </a:lnSpc>
              <a:spcAft>
                <a:spcPts val="600"/>
              </a:spcAft>
            </a:pPr>
            <a:r>
              <a:rPr sz="1000" b="0">
                <a:solidFill>
                  <a:srgbClr val="45505E"/>
                </a:solidFill>
                <a:latin typeface="Segoe UI"/>
              </a:rPr>
              <a:t>Chromium: HarfBuzz and ICU, with per-script metrics</a:t>
            </a:r>
          </a:p>
        </p:txBody>
      </p:sp>
      <p:sp>
        <p:nvSpPr>
          <p:cNvPr id="16" name="Rounded Rectangle 15"/>
          <p:cNvSpPr/>
          <p:nvPr/>
        </p:nvSpPr>
        <p:spPr>
          <a:xfrm>
            <a:off x="9757409" y="2212848"/>
            <a:ext cx="1647901" cy="224028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22001" y="2395728"/>
            <a:ext cx="1318717" cy="1874519"/>
          </a:xfrm>
          <a:prstGeom prst="rect">
            <a:avLst/>
          </a:prstGeom>
          <a:noFill/>
        </p:spPr>
        <p:txBody>
          <a:bodyPr wrap="square" lIns="0" tIns="0" rIns="0" bIns="0" anchor="t">
            <a:spAutoFit/>
          </a:bodyPr>
          <a:lstStyle/>
          <a:p>
            <a:pPr algn="l">
              <a:lnSpc>
                <a:spcPct val="135000"/>
              </a:lnSpc>
              <a:spcAft>
                <a:spcPts val="700"/>
              </a:spcAft>
            </a:pPr>
            <a:r>
              <a:rPr sz="1100" b="1">
                <a:solidFill>
                  <a:srgbClr val="768190"/>
                </a:solidFill>
                <a:latin typeface="Segoe UI"/>
              </a:rPr>
              <a:t>6</a:t>
            </a:r>
          </a:p>
          <a:p>
            <a:pPr algn="l">
              <a:lnSpc>
                <a:spcPct val="115000"/>
              </a:lnSpc>
              <a:spcAft>
                <a:spcPts val="700"/>
              </a:spcAft>
            </a:pPr>
            <a:r>
              <a:rPr sz="1300" b="1">
                <a:solidFill>
                  <a:srgbClr val="141A22"/>
                </a:solidFill>
                <a:latin typeface="Segoe UI"/>
              </a:rPr>
              <a:t>Compositor</a:t>
            </a:r>
          </a:p>
          <a:p>
            <a:pPr algn="l">
              <a:lnSpc>
                <a:spcPct val="130000"/>
              </a:lnSpc>
              <a:spcAft>
                <a:spcPts val="600"/>
              </a:spcAft>
            </a:pPr>
            <a:r>
              <a:rPr sz="1000" b="0">
                <a:solidFill>
                  <a:srgbClr val="45505E"/>
                </a:solidFill>
                <a:latin typeface="Segoe UI"/>
              </a:rPr>
              <a:t>Base, text and logo, with safe zones and contrast enforced</a:t>
            </a:r>
          </a:p>
        </p:txBody>
      </p:sp>
      <p:sp>
        <p:nvSpPr>
          <p:cNvPr id="18" name="TextBox 17"/>
          <p:cNvSpPr txBox="1"/>
          <p:nvPr/>
        </p:nvSpPr>
        <p:spPr>
          <a:xfrm>
            <a:off x="786384" y="4754880"/>
            <a:ext cx="10424160" cy="1097280"/>
          </a:xfrm>
          <a:prstGeom prst="rect">
            <a:avLst/>
          </a:prstGeom>
          <a:noFill/>
        </p:spPr>
        <p:txBody>
          <a:bodyPr wrap="square" lIns="0" tIns="0" rIns="0" bIns="0" anchor="t">
            <a:spAutoFit/>
          </a:bodyPr>
          <a:lstStyle/>
          <a:p>
            <a:pPr algn="l">
              <a:lnSpc>
                <a:spcPct val="140000"/>
              </a:lnSpc>
              <a:spcAft>
                <a:spcPts val="600"/>
              </a:spcAft>
            </a:pPr>
            <a:r>
              <a:rPr sz="1400" b="0">
                <a:solidFill>
                  <a:srgbClr val="45505E"/>
                </a:solidFill>
                <a:latin typeface="Segoe UI"/>
              </a:rPr>
              <a:t>Only stage 3 touches the image quota. Everything after it is CPU work that scales freely — which is precisely what makes the seventh language free and the seventh format cost a generation.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IMPLEMENTATION</a:t>
            </a:r>
          </a:p>
          <a:p>
            <a:pPr algn="l">
              <a:lnSpc>
                <a:spcPct val="112000"/>
              </a:lnSpc>
              <a:spcAft>
                <a:spcPts val="600"/>
              </a:spcAft>
            </a:pPr>
            <a:r>
              <a:rPr sz="3000" b="1">
                <a:solidFill>
                  <a:srgbClr val="141A22"/>
                </a:solidFill>
                <a:latin typeface="Segoe UI"/>
              </a:rPr>
              <a:t>Technology stack</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8</a:t>
            </a:r>
          </a:p>
        </p:txBody>
      </p:sp>
      <p:sp>
        <p:nvSpPr>
          <p:cNvPr id="6" name="Rounded Rectangle 5"/>
          <p:cNvSpPr/>
          <p:nvPr/>
        </p:nvSpPr>
        <p:spPr>
          <a:xfrm>
            <a:off x="786384" y="2212848"/>
            <a:ext cx="3368954" cy="169164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432304"/>
            <a:ext cx="2893466" cy="125272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Microsoft AI Foundry</a:t>
            </a:r>
          </a:p>
          <a:p>
            <a:pPr algn="l">
              <a:lnSpc>
                <a:spcPct val="134000"/>
              </a:lnSpc>
              <a:spcAft>
                <a:spcPts val="600"/>
              </a:spcAft>
            </a:pPr>
            <a:r>
              <a:rPr sz="1150" b="0">
                <a:solidFill>
                  <a:srgbClr val="45505E"/>
                </a:solidFill>
                <a:latin typeface="Segoe UI"/>
              </a:rPr>
              <a:t>FLUX.2-pro for imagery, GPT-5-mini for the brief and copy. Both image backends implement one interface, so the model is a configuration line.</a:t>
            </a:r>
          </a:p>
        </p:txBody>
      </p:sp>
      <p:sp>
        <p:nvSpPr>
          <p:cNvPr id="8" name="Rounded Rectangle 7"/>
          <p:cNvSpPr/>
          <p:nvPr/>
        </p:nvSpPr>
        <p:spPr>
          <a:xfrm>
            <a:off x="4411370" y="2212848"/>
            <a:ext cx="3368954" cy="169164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49114" y="2432304"/>
            <a:ext cx="2893466" cy="125272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Python · FastAPI</a:t>
            </a:r>
          </a:p>
          <a:p>
            <a:pPr algn="l">
              <a:lnSpc>
                <a:spcPct val="134000"/>
              </a:lnSpc>
              <a:spcAft>
                <a:spcPts val="600"/>
              </a:spcAft>
            </a:pPr>
            <a:r>
              <a:rPr sz="1150" b="0">
                <a:solidFill>
                  <a:srgbClr val="45505E"/>
                </a:solidFill>
                <a:latin typeface="Segoe UI"/>
              </a:rPr>
              <a:t>Async job API. Generation is never synchronous: a request that waited for an image would time out behind almost any proxy.</a:t>
            </a:r>
          </a:p>
        </p:txBody>
      </p:sp>
      <p:sp>
        <p:nvSpPr>
          <p:cNvPr id="10" name="Rounded Rectangle 9"/>
          <p:cNvSpPr/>
          <p:nvPr/>
        </p:nvSpPr>
        <p:spPr>
          <a:xfrm>
            <a:off x="8036356" y="2212848"/>
            <a:ext cx="3368954" cy="169164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4100" y="2432304"/>
            <a:ext cx="2893466" cy="125272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Headless Chromium · Playwright</a:t>
            </a:r>
          </a:p>
          <a:p>
            <a:pPr algn="l">
              <a:lnSpc>
                <a:spcPct val="134000"/>
              </a:lnSpc>
              <a:spcAft>
                <a:spcPts val="600"/>
              </a:spcAft>
            </a:pPr>
            <a:r>
              <a:rPr sz="1150" b="0">
                <a:solidFill>
                  <a:srgbClr val="45505E"/>
                </a:solidFill>
                <a:latin typeface="Segoe UI"/>
              </a:rPr>
              <a:t>Indic typesetting. Pillow on this machine has no RAQM and would emit silently broken glyph order.</a:t>
            </a:r>
          </a:p>
        </p:txBody>
      </p:sp>
      <p:sp>
        <p:nvSpPr>
          <p:cNvPr id="12" name="Rounded Rectangle 11"/>
          <p:cNvSpPr/>
          <p:nvPr/>
        </p:nvSpPr>
        <p:spPr>
          <a:xfrm>
            <a:off x="786384" y="4160520"/>
            <a:ext cx="3368954" cy="169164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4379976"/>
            <a:ext cx="2893466" cy="125272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Pillow</a:t>
            </a:r>
          </a:p>
          <a:p>
            <a:pPr algn="l">
              <a:lnSpc>
                <a:spcPct val="134000"/>
              </a:lnSpc>
              <a:spcAft>
                <a:spcPts val="600"/>
              </a:spcAft>
            </a:pPr>
            <a:r>
              <a:rPr sz="1150" b="0">
                <a:solidFill>
                  <a:srgbClr val="45505E"/>
                </a:solidFill>
                <a:latin typeface="Segoe UI"/>
              </a:rPr>
              <a:t>Cropping, upscaling and compositing only — never text.</a:t>
            </a:r>
          </a:p>
        </p:txBody>
      </p:sp>
      <p:sp>
        <p:nvSpPr>
          <p:cNvPr id="14" name="Rounded Rectangle 13"/>
          <p:cNvSpPr/>
          <p:nvPr/>
        </p:nvSpPr>
        <p:spPr>
          <a:xfrm>
            <a:off x="4411370" y="4160520"/>
            <a:ext cx="3368954" cy="169164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49114" y="4379976"/>
            <a:ext cx="2893466" cy="125272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React · Vite</a:t>
            </a:r>
          </a:p>
          <a:p>
            <a:pPr algn="l">
              <a:lnSpc>
                <a:spcPct val="134000"/>
              </a:lnSpc>
              <a:spcAft>
                <a:spcPts val="600"/>
              </a:spcAft>
            </a:pPr>
            <a:r>
              <a:rPr sz="1150" b="0">
                <a:solidFill>
                  <a:srgbClr val="45505E"/>
                </a:solidFill>
                <a:latin typeface="Segoe UI"/>
              </a:rPr>
              <a:t>Instagram phone-frame preview with the platform's real safe zones drawn to scale.</a:t>
            </a:r>
          </a:p>
        </p:txBody>
      </p:sp>
      <p:sp>
        <p:nvSpPr>
          <p:cNvPr id="16" name="Rounded Rectangle 15"/>
          <p:cNvSpPr/>
          <p:nvPr/>
        </p:nvSpPr>
        <p:spPr>
          <a:xfrm>
            <a:off x="8036356" y="4160520"/>
            <a:ext cx="3368954" cy="169164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4100" y="4379976"/>
            <a:ext cx="2893466" cy="125272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pytest</a:t>
            </a:r>
          </a:p>
          <a:p>
            <a:pPr algn="l">
              <a:lnSpc>
                <a:spcPct val="134000"/>
              </a:lnSpc>
              <a:spcAft>
                <a:spcPts val="600"/>
              </a:spcAft>
            </a:pPr>
            <a:r>
              <a:rPr sz="1150" b="0">
                <a:solidFill>
                  <a:srgbClr val="45505E"/>
                </a:solidFill>
                <a:latin typeface="Segoe UI"/>
              </a:rPr>
              <a:t>269 tests, including fidelity measurement and shaping proofs.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KEY CONTRIBUTIONS</a:t>
            </a:r>
          </a:p>
          <a:p>
            <a:pPr algn="l">
              <a:lnSpc>
                <a:spcPct val="112000"/>
              </a:lnSpc>
              <a:spcAft>
                <a:spcPts val="600"/>
              </a:spcAft>
            </a:pPr>
            <a:r>
              <a:rPr sz="3000" b="1">
                <a:solidFill>
                  <a:srgbClr val="141A22"/>
                </a:solidFill>
                <a:latin typeface="Segoe UI"/>
              </a:rPr>
              <a:t>What makes it more than a wrapper</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9</a:t>
            </a:r>
          </a:p>
        </p:txBody>
      </p:sp>
      <p:sp>
        <p:nvSpPr>
          <p:cNvPr id="6" name="Rounded Rectangle 5"/>
          <p:cNvSpPr/>
          <p:nvPr/>
        </p:nvSpPr>
        <p:spPr>
          <a:xfrm>
            <a:off x="786384" y="2212848"/>
            <a:ext cx="3368954" cy="18288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432304"/>
            <a:ext cx="2893466" cy="13898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Transcreation, not translation</a:t>
            </a:r>
          </a:p>
          <a:p>
            <a:pPr algn="l">
              <a:lnSpc>
                <a:spcPct val="134000"/>
              </a:lnSpc>
              <a:spcAft>
                <a:spcPts val="600"/>
              </a:spcAft>
            </a:pPr>
            <a:r>
              <a:rPr sz="1150" b="0">
                <a:solidFill>
                  <a:srgbClr val="45505E"/>
                </a:solidFill>
                <a:latin typeface="Segoe UI"/>
              </a:rPr>
              <a:t>Copy is authored per language from a language-neutral strategy, so the referent changes: Diwali for Hindi, Durga Puja for Bengali, Pongal for Tamil — from one campaign.</a:t>
            </a:r>
          </a:p>
        </p:txBody>
      </p:sp>
      <p:sp>
        <p:nvSpPr>
          <p:cNvPr id="8" name="Rounded Rectangle 7"/>
          <p:cNvSpPr/>
          <p:nvPr/>
        </p:nvSpPr>
        <p:spPr>
          <a:xfrm>
            <a:off x="4411370" y="2212848"/>
            <a:ext cx="3368954" cy="18288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49114" y="2432304"/>
            <a:ext cx="2893466" cy="13898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Measured subject fidelity</a:t>
            </a:r>
          </a:p>
          <a:p>
            <a:pPr algn="l">
              <a:lnSpc>
                <a:spcPct val="134000"/>
              </a:lnSpc>
              <a:spcAft>
                <a:spcPts val="600"/>
              </a:spcAft>
            </a:pPr>
            <a:r>
              <a:rPr sz="1150" b="0">
                <a:solidFill>
                  <a:srgbClr val="45505E"/>
                </a:solidFill>
                <a:latin typeface="Segoe UI"/>
              </a:rPr>
              <a:t>An uploaded building is restaged, never redesigned. Outline overlap and detail density are measured against the original; architecture is held to a stricter floor than food.</a:t>
            </a:r>
          </a:p>
        </p:txBody>
      </p:sp>
      <p:sp>
        <p:nvSpPr>
          <p:cNvPr id="10" name="Rounded Rectangle 9"/>
          <p:cNvSpPr/>
          <p:nvPr/>
        </p:nvSpPr>
        <p:spPr>
          <a:xfrm>
            <a:off x="8036356" y="2212848"/>
            <a:ext cx="3368954" cy="18288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4100" y="2432304"/>
            <a:ext cx="2893466" cy="13898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Contrast-aware compositing</a:t>
            </a:r>
          </a:p>
          <a:p>
            <a:pPr algn="l">
              <a:lnSpc>
                <a:spcPct val="134000"/>
              </a:lnSpc>
              <a:spcAft>
                <a:spcPts val="600"/>
              </a:spcAft>
            </a:pPr>
            <a:r>
              <a:rPr sz="1150" b="0">
                <a:solidFill>
                  <a:srgbClr val="45505E"/>
                </a:solidFill>
                <a:latin typeface="Segoe UI"/>
              </a:rPr>
              <a:t>The logo's light or dark version is chosen by measuring the pixels behind it, scored against the worst tone in the patch rather than the average.</a:t>
            </a:r>
          </a:p>
        </p:txBody>
      </p:sp>
      <p:sp>
        <p:nvSpPr>
          <p:cNvPr id="12" name="Rounded Rectangle 11"/>
          <p:cNvSpPr/>
          <p:nvPr/>
        </p:nvSpPr>
        <p:spPr>
          <a:xfrm>
            <a:off x="786384" y="4297680"/>
            <a:ext cx="3368954" cy="18288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4517136"/>
            <a:ext cx="2893466" cy="13898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Image-driven layout</a:t>
            </a:r>
          </a:p>
          <a:p>
            <a:pPr algn="l">
              <a:lnSpc>
                <a:spcPct val="134000"/>
              </a:lnSpc>
              <a:spcAft>
                <a:spcPts val="600"/>
              </a:spcAft>
            </a:pPr>
            <a:r>
              <a:rPr sz="1150" b="0">
                <a:solidFill>
                  <a:srgbClr val="45505E"/>
                </a:solidFill>
                <a:latin typeface="Segoe UI"/>
              </a:rPr>
              <a:t>Eight candidate regions are scored for edge energy and tonal spread, so copy lands where the picture is actually calm.</a:t>
            </a:r>
          </a:p>
        </p:txBody>
      </p:sp>
      <p:sp>
        <p:nvSpPr>
          <p:cNvPr id="14" name="Rounded Rectangle 13"/>
          <p:cNvSpPr/>
          <p:nvPr/>
        </p:nvSpPr>
        <p:spPr>
          <a:xfrm>
            <a:off x="4411370" y="4297680"/>
            <a:ext cx="3368954" cy="18288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49114" y="4517136"/>
            <a:ext cx="2893466" cy="13898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Enforced spend ceiling</a:t>
            </a:r>
          </a:p>
          <a:p>
            <a:pPr algn="l">
              <a:lnSpc>
                <a:spcPct val="134000"/>
              </a:lnSpc>
              <a:spcAft>
                <a:spcPts val="600"/>
              </a:spcAft>
            </a:pPr>
            <a:r>
              <a:rPr sz="1150" b="0">
                <a:solidFill>
                  <a:srgbClr val="45505E"/>
                </a:solidFill>
                <a:latin typeface="Segoe UI"/>
              </a:rPr>
              <a:t>Checked before the call, persisted to disk, with a cache that serves repeats without touching the budget.</a:t>
            </a:r>
          </a:p>
        </p:txBody>
      </p:sp>
      <p:sp>
        <p:nvSpPr>
          <p:cNvPr id="16" name="Rounded Rectangle 15"/>
          <p:cNvSpPr/>
          <p:nvPr/>
        </p:nvSpPr>
        <p:spPr>
          <a:xfrm>
            <a:off x="8036356" y="4297680"/>
            <a:ext cx="3368954" cy="18288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4100" y="4517136"/>
            <a:ext cx="2893466" cy="138988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Free human review</a:t>
            </a:r>
          </a:p>
          <a:p>
            <a:pPr algn="l">
              <a:lnSpc>
                <a:spcPct val="134000"/>
              </a:lnSpc>
              <a:spcAft>
                <a:spcPts val="600"/>
              </a:spcAft>
            </a:pPr>
            <a:r>
              <a:rPr sz="1150" b="0">
                <a:solidFill>
                  <a:srgbClr val="45505E"/>
                </a:solidFill>
                <a:latin typeface="Segoe UI"/>
              </a:rPr>
              <a:t>The base carries no text, so corrections are a typesetting pass. The creative updates as you type.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RESULTS</a:t>
            </a:r>
          </a:p>
          <a:p>
            <a:pPr algn="l">
              <a:lnSpc>
                <a:spcPct val="112000"/>
              </a:lnSpc>
              <a:spcAft>
                <a:spcPts val="600"/>
              </a:spcAft>
            </a:pPr>
            <a:r>
              <a:rPr sz="3000" b="1">
                <a:solidFill>
                  <a:srgbClr val="141A22"/>
                </a:solidFill>
                <a:latin typeface="Segoe UI"/>
              </a:rPr>
              <a:t>One image call, seven finished deliverables</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10</a:t>
            </a:r>
          </a:p>
        </p:txBody>
      </p:sp>
      <p:pic>
        <p:nvPicPr>
          <p:cNvPr id="6" name="Picture 5" descr="portrait_en.jpg"/>
          <p:cNvPicPr>
            <a:picLocks noChangeAspect="1"/>
          </p:cNvPicPr>
          <p:nvPr/>
        </p:nvPicPr>
        <p:blipFill>
          <a:blip r:embed="rId2"/>
          <a:stretch>
            <a:fillRect/>
          </a:stretch>
        </p:blipFill>
        <p:spPr>
          <a:xfrm>
            <a:off x="786384" y="2212848"/>
            <a:ext cx="1962851" cy="2453564"/>
          </a:xfrm>
          <a:prstGeom prst="rect">
            <a:avLst/>
          </a:prstGeom>
        </p:spPr>
      </p:pic>
      <p:sp>
        <p:nvSpPr>
          <p:cNvPr id="7" name="TextBox 6"/>
          <p:cNvSpPr txBox="1"/>
          <p:nvPr/>
        </p:nvSpPr>
        <p:spPr>
          <a:xfrm>
            <a:off x="786384" y="4882896"/>
            <a:ext cx="1962851" cy="310896"/>
          </a:xfrm>
          <a:prstGeom prst="rect">
            <a:avLst/>
          </a:prstGeom>
          <a:noFill/>
        </p:spPr>
        <p:txBody>
          <a:bodyPr wrap="square" lIns="0" tIns="0" rIns="0" bIns="0" anchor="t">
            <a:spAutoFit/>
          </a:bodyPr>
          <a:lstStyle/>
          <a:p>
            <a:pPr algn="ctr">
              <a:lnSpc>
                <a:spcPct val="135000"/>
              </a:lnSpc>
              <a:spcAft>
                <a:spcPts val="600"/>
              </a:spcAft>
            </a:pPr>
            <a:r>
              <a:rPr sz="1200" b="0">
                <a:solidFill>
                  <a:srgbClr val="45505E"/>
                </a:solidFill>
                <a:latin typeface="Segoe UI"/>
              </a:rPr>
              <a:t>English</a:t>
            </a:r>
          </a:p>
        </p:txBody>
      </p:sp>
      <p:pic>
        <p:nvPicPr>
          <p:cNvPr id="8" name="Picture 7" descr="portrait_hi.jpg"/>
          <p:cNvPicPr>
            <a:picLocks noChangeAspect="1"/>
          </p:cNvPicPr>
          <p:nvPr/>
        </p:nvPicPr>
        <p:blipFill>
          <a:blip r:embed="rId3"/>
          <a:stretch>
            <a:fillRect/>
          </a:stretch>
        </p:blipFill>
        <p:spPr>
          <a:xfrm>
            <a:off x="2950403" y="2212848"/>
            <a:ext cx="1962851" cy="2453564"/>
          </a:xfrm>
          <a:prstGeom prst="rect">
            <a:avLst/>
          </a:prstGeom>
        </p:spPr>
      </p:pic>
      <p:sp>
        <p:nvSpPr>
          <p:cNvPr id="9" name="TextBox 8"/>
          <p:cNvSpPr txBox="1"/>
          <p:nvPr/>
        </p:nvSpPr>
        <p:spPr>
          <a:xfrm>
            <a:off x="2950403" y="4882896"/>
            <a:ext cx="1962851" cy="310896"/>
          </a:xfrm>
          <a:prstGeom prst="rect">
            <a:avLst/>
          </a:prstGeom>
          <a:noFill/>
        </p:spPr>
        <p:txBody>
          <a:bodyPr wrap="square" lIns="0" tIns="0" rIns="0" bIns="0" anchor="t">
            <a:spAutoFit/>
          </a:bodyPr>
          <a:lstStyle/>
          <a:p>
            <a:pPr algn="ctr">
              <a:lnSpc>
                <a:spcPct val="135000"/>
              </a:lnSpc>
              <a:spcAft>
                <a:spcPts val="600"/>
              </a:spcAft>
            </a:pPr>
            <a:r>
              <a:rPr sz="1200" b="0">
                <a:solidFill>
                  <a:srgbClr val="45505E"/>
                </a:solidFill>
                <a:latin typeface="Segoe UI"/>
              </a:rPr>
              <a:t>Hindi</a:t>
            </a:r>
          </a:p>
        </p:txBody>
      </p:sp>
      <p:pic>
        <p:nvPicPr>
          <p:cNvPr id="10" name="Picture 9" descr="portrait_bn.jpg"/>
          <p:cNvPicPr>
            <a:picLocks noChangeAspect="1"/>
          </p:cNvPicPr>
          <p:nvPr/>
        </p:nvPicPr>
        <p:blipFill>
          <a:blip r:embed="rId4"/>
          <a:stretch>
            <a:fillRect/>
          </a:stretch>
        </p:blipFill>
        <p:spPr>
          <a:xfrm>
            <a:off x="5114422" y="2212848"/>
            <a:ext cx="1962851" cy="2453564"/>
          </a:xfrm>
          <a:prstGeom prst="rect">
            <a:avLst/>
          </a:prstGeom>
        </p:spPr>
      </p:pic>
      <p:sp>
        <p:nvSpPr>
          <p:cNvPr id="11" name="TextBox 10"/>
          <p:cNvSpPr txBox="1"/>
          <p:nvPr/>
        </p:nvSpPr>
        <p:spPr>
          <a:xfrm>
            <a:off x="5114422" y="4882896"/>
            <a:ext cx="1962851" cy="310896"/>
          </a:xfrm>
          <a:prstGeom prst="rect">
            <a:avLst/>
          </a:prstGeom>
          <a:noFill/>
        </p:spPr>
        <p:txBody>
          <a:bodyPr wrap="square" lIns="0" tIns="0" rIns="0" bIns="0" anchor="t">
            <a:spAutoFit/>
          </a:bodyPr>
          <a:lstStyle/>
          <a:p>
            <a:pPr algn="ctr">
              <a:lnSpc>
                <a:spcPct val="135000"/>
              </a:lnSpc>
              <a:spcAft>
                <a:spcPts val="600"/>
              </a:spcAft>
            </a:pPr>
            <a:r>
              <a:rPr sz="1200" b="0">
                <a:solidFill>
                  <a:srgbClr val="45505E"/>
                </a:solidFill>
                <a:latin typeface="Segoe UI"/>
              </a:rPr>
              <a:t>Bengali</a:t>
            </a:r>
          </a:p>
        </p:txBody>
      </p:sp>
      <p:pic>
        <p:nvPicPr>
          <p:cNvPr id="12" name="Picture 11" descr="portrait_ta.jpg"/>
          <p:cNvPicPr>
            <a:picLocks noChangeAspect="1"/>
          </p:cNvPicPr>
          <p:nvPr/>
        </p:nvPicPr>
        <p:blipFill>
          <a:blip r:embed="rId5"/>
          <a:stretch>
            <a:fillRect/>
          </a:stretch>
        </p:blipFill>
        <p:spPr>
          <a:xfrm>
            <a:off x="7278441" y="2212848"/>
            <a:ext cx="1962851" cy="2453564"/>
          </a:xfrm>
          <a:prstGeom prst="rect">
            <a:avLst/>
          </a:prstGeom>
        </p:spPr>
      </p:pic>
      <p:sp>
        <p:nvSpPr>
          <p:cNvPr id="13" name="TextBox 12"/>
          <p:cNvSpPr txBox="1"/>
          <p:nvPr/>
        </p:nvSpPr>
        <p:spPr>
          <a:xfrm>
            <a:off x="7278441" y="4882896"/>
            <a:ext cx="1962851" cy="310896"/>
          </a:xfrm>
          <a:prstGeom prst="rect">
            <a:avLst/>
          </a:prstGeom>
          <a:noFill/>
        </p:spPr>
        <p:txBody>
          <a:bodyPr wrap="square" lIns="0" tIns="0" rIns="0" bIns="0" anchor="t">
            <a:spAutoFit/>
          </a:bodyPr>
          <a:lstStyle/>
          <a:p>
            <a:pPr algn="ctr">
              <a:lnSpc>
                <a:spcPct val="135000"/>
              </a:lnSpc>
              <a:spcAft>
                <a:spcPts val="600"/>
              </a:spcAft>
            </a:pPr>
            <a:r>
              <a:rPr sz="1200" b="0">
                <a:solidFill>
                  <a:srgbClr val="45505E"/>
                </a:solidFill>
                <a:latin typeface="Segoe UI"/>
              </a:rPr>
              <a:t>Tamil</a:t>
            </a:r>
          </a:p>
        </p:txBody>
      </p:sp>
      <p:pic>
        <p:nvPicPr>
          <p:cNvPr id="14" name="Picture 13" descr="portrait_te.jpg"/>
          <p:cNvPicPr>
            <a:picLocks noChangeAspect="1"/>
          </p:cNvPicPr>
          <p:nvPr/>
        </p:nvPicPr>
        <p:blipFill>
          <a:blip r:embed="rId6"/>
          <a:stretch>
            <a:fillRect/>
          </a:stretch>
        </p:blipFill>
        <p:spPr>
          <a:xfrm>
            <a:off x="9442460" y="2212848"/>
            <a:ext cx="1962851" cy="2453564"/>
          </a:xfrm>
          <a:prstGeom prst="rect">
            <a:avLst/>
          </a:prstGeom>
        </p:spPr>
      </p:pic>
      <p:sp>
        <p:nvSpPr>
          <p:cNvPr id="15" name="TextBox 14"/>
          <p:cNvSpPr txBox="1"/>
          <p:nvPr/>
        </p:nvSpPr>
        <p:spPr>
          <a:xfrm>
            <a:off x="9442460" y="4882896"/>
            <a:ext cx="1962851" cy="310896"/>
          </a:xfrm>
          <a:prstGeom prst="rect">
            <a:avLst/>
          </a:prstGeom>
          <a:noFill/>
        </p:spPr>
        <p:txBody>
          <a:bodyPr wrap="square" lIns="0" tIns="0" rIns="0" bIns="0" anchor="t">
            <a:spAutoFit/>
          </a:bodyPr>
          <a:lstStyle/>
          <a:p>
            <a:pPr algn="ctr">
              <a:lnSpc>
                <a:spcPct val="135000"/>
              </a:lnSpc>
              <a:spcAft>
                <a:spcPts val="600"/>
              </a:spcAft>
            </a:pPr>
            <a:r>
              <a:rPr sz="1200" b="0">
                <a:solidFill>
                  <a:srgbClr val="45505E"/>
                </a:solidFill>
                <a:latin typeface="Segoe UI"/>
              </a:rPr>
              <a:t>Telugu</a:t>
            </a:r>
          </a:p>
        </p:txBody>
      </p:sp>
      <p:sp>
        <p:nvSpPr>
          <p:cNvPr id="16" name="TextBox 15"/>
          <p:cNvSpPr txBox="1"/>
          <p:nvPr/>
        </p:nvSpPr>
        <p:spPr>
          <a:xfrm>
            <a:off x="786384" y="5532120"/>
            <a:ext cx="10424160" cy="640080"/>
          </a:xfrm>
          <a:prstGeom prst="rect">
            <a:avLst/>
          </a:prstGeom>
          <a:noFill/>
        </p:spPr>
        <p:txBody>
          <a:bodyPr wrap="square" lIns="0" tIns="0" rIns="0" bIns="0" anchor="t">
            <a:spAutoFit/>
          </a:bodyPr>
          <a:lstStyle/>
          <a:p>
            <a:pPr algn="l">
              <a:lnSpc>
                <a:spcPct val="135000"/>
              </a:lnSpc>
              <a:spcAft>
                <a:spcPts val="600"/>
              </a:spcAft>
            </a:pPr>
            <a:r>
              <a:rPr sz="1350" b="0">
                <a:solidFill>
                  <a:srgbClr val="45505E"/>
                </a:solidFill>
                <a:latin typeface="Segoe UI"/>
              </a:rPr>
              <a:t>The same photograph underneath every one. The text is typeset and composited — never drawn by the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VALIDATION</a:t>
            </a:r>
          </a:p>
          <a:p>
            <a:pPr algn="l">
              <a:lnSpc>
                <a:spcPct val="112000"/>
              </a:lnSpc>
              <a:spcAft>
                <a:spcPts val="600"/>
              </a:spcAft>
            </a:pPr>
            <a:r>
              <a:rPr sz="3000" b="1">
                <a:solidFill>
                  <a:srgbClr val="141A22"/>
                </a:solidFill>
                <a:latin typeface="Segoe UI"/>
              </a:rPr>
              <a:t>Measured, not asserted</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11</a:t>
            </a:r>
          </a:p>
        </p:txBody>
      </p:sp>
      <p:sp>
        <p:nvSpPr>
          <p:cNvPr id="6" name="TextBox 5"/>
          <p:cNvSpPr txBox="1"/>
          <p:nvPr/>
        </p:nvSpPr>
        <p:spPr>
          <a:xfrm>
            <a:off x="786384" y="2212848"/>
            <a:ext cx="2560320" cy="1371600"/>
          </a:xfrm>
          <a:prstGeom prst="rect">
            <a:avLst/>
          </a:prstGeom>
          <a:noFill/>
        </p:spPr>
        <p:txBody>
          <a:bodyPr wrap="square" lIns="0" tIns="0" rIns="0" bIns="0" anchor="t">
            <a:spAutoFit/>
          </a:bodyPr>
          <a:lstStyle/>
          <a:p>
            <a:pPr algn="l">
              <a:lnSpc>
                <a:spcPct val="100000"/>
              </a:lnSpc>
              <a:spcAft>
                <a:spcPts val="200"/>
              </a:spcAft>
            </a:pPr>
            <a:r>
              <a:rPr sz="4600" b="1">
                <a:solidFill>
                  <a:srgbClr val="0D7A55"/>
                </a:solidFill>
                <a:latin typeface="Segoe UI"/>
              </a:rPr>
              <a:t>1 → 7</a:t>
            </a:r>
          </a:p>
          <a:p>
            <a:pPr algn="l">
              <a:lnSpc>
                <a:spcPct val="130000"/>
              </a:lnSpc>
              <a:spcAft>
                <a:spcPts val="600"/>
              </a:spcAft>
            </a:pPr>
            <a:r>
              <a:rPr sz="1200" b="0">
                <a:solidFill>
                  <a:srgbClr val="45505E"/>
                </a:solidFill>
                <a:latin typeface="Segoe UI"/>
              </a:rPr>
              <a:t>image calls to finished deliverables,
in the recorded run</a:t>
            </a:r>
          </a:p>
        </p:txBody>
      </p:sp>
      <p:sp>
        <p:nvSpPr>
          <p:cNvPr id="7" name="TextBox 6"/>
          <p:cNvSpPr txBox="1"/>
          <p:nvPr/>
        </p:nvSpPr>
        <p:spPr>
          <a:xfrm>
            <a:off x="3483864" y="2212848"/>
            <a:ext cx="2560320" cy="1371600"/>
          </a:xfrm>
          <a:prstGeom prst="rect">
            <a:avLst/>
          </a:prstGeom>
          <a:noFill/>
        </p:spPr>
        <p:txBody>
          <a:bodyPr wrap="square" lIns="0" tIns="0" rIns="0" bIns="0" anchor="t">
            <a:spAutoFit/>
          </a:bodyPr>
          <a:lstStyle/>
          <a:p>
            <a:pPr algn="l">
              <a:lnSpc>
                <a:spcPct val="100000"/>
              </a:lnSpc>
              <a:spcAft>
                <a:spcPts val="200"/>
              </a:spcAft>
            </a:pPr>
            <a:r>
              <a:rPr sz="4600" b="1">
                <a:solidFill>
                  <a:srgbClr val="0D7A55"/>
                </a:solidFill>
                <a:latin typeface="Segoe UI"/>
              </a:rPr>
              <a:t>269</a:t>
            </a:r>
          </a:p>
          <a:p>
            <a:pPr algn="l">
              <a:lnSpc>
                <a:spcPct val="130000"/>
              </a:lnSpc>
              <a:spcAft>
                <a:spcPts val="600"/>
              </a:spcAft>
            </a:pPr>
            <a:r>
              <a:rPr sz="1200" b="0">
                <a:solidFill>
                  <a:srgbClr val="45505E"/>
                </a:solidFill>
                <a:latin typeface="Segoe UI"/>
              </a:rPr>
              <a:t>automated tests, including shaping
proofs and fidelity checks</a:t>
            </a:r>
          </a:p>
        </p:txBody>
      </p:sp>
      <p:sp>
        <p:nvSpPr>
          <p:cNvPr id="8" name="TextBox 7"/>
          <p:cNvSpPr txBox="1"/>
          <p:nvPr/>
        </p:nvSpPr>
        <p:spPr>
          <a:xfrm>
            <a:off x="6181344" y="2212848"/>
            <a:ext cx="2560320" cy="1371600"/>
          </a:xfrm>
          <a:prstGeom prst="rect">
            <a:avLst/>
          </a:prstGeom>
          <a:noFill/>
        </p:spPr>
        <p:txBody>
          <a:bodyPr wrap="square" lIns="0" tIns="0" rIns="0" bIns="0" anchor="t">
            <a:spAutoFit/>
          </a:bodyPr>
          <a:lstStyle/>
          <a:p>
            <a:pPr algn="l">
              <a:lnSpc>
                <a:spcPct val="100000"/>
              </a:lnSpc>
              <a:spcAft>
                <a:spcPts val="200"/>
              </a:spcAft>
            </a:pPr>
            <a:r>
              <a:rPr sz="4600" b="1">
                <a:solidFill>
                  <a:srgbClr val="0D7A55"/>
                </a:solidFill>
                <a:latin typeface="Segoe UI"/>
              </a:rPr>
              <a:t>7</a:t>
            </a:r>
          </a:p>
          <a:p>
            <a:pPr algn="l">
              <a:lnSpc>
                <a:spcPct val="130000"/>
              </a:lnSpc>
              <a:spcAft>
                <a:spcPts val="600"/>
              </a:spcAft>
            </a:pPr>
            <a:r>
              <a:rPr sz="1200" b="0">
                <a:solidFill>
                  <a:srgbClr val="45505E"/>
                </a:solidFill>
                <a:latin typeface="Segoe UI"/>
              </a:rPr>
              <a:t>locales: English, Hindi, Hinglish,
Marathi, Bengali, Tamil, Telugu</a:t>
            </a:r>
          </a:p>
        </p:txBody>
      </p:sp>
      <p:sp>
        <p:nvSpPr>
          <p:cNvPr id="9" name="TextBox 8"/>
          <p:cNvSpPr txBox="1"/>
          <p:nvPr/>
        </p:nvSpPr>
        <p:spPr>
          <a:xfrm>
            <a:off x="8878824" y="2212848"/>
            <a:ext cx="2560320" cy="1371600"/>
          </a:xfrm>
          <a:prstGeom prst="rect">
            <a:avLst/>
          </a:prstGeom>
          <a:noFill/>
        </p:spPr>
        <p:txBody>
          <a:bodyPr wrap="square" lIns="0" tIns="0" rIns="0" bIns="0" anchor="t">
            <a:spAutoFit/>
          </a:bodyPr>
          <a:lstStyle/>
          <a:p>
            <a:pPr algn="l">
              <a:lnSpc>
                <a:spcPct val="100000"/>
              </a:lnSpc>
              <a:spcAft>
                <a:spcPts val="200"/>
              </a:spcAft>
            </a:pPr>
            <a:r>
              <a:rPr sz="4600" b="1">
                <a:solidFill>
                  <a:srgbClr val="0D7A55"/>
                </a:solidFill>
                <a:latin typeface="Segoe UI"/>
              </a:rPr>
              <a:t>5</a:t>
            </a:r>
          </a:p>
          <a:p>
            <a:pPr algn="l">
              <a:lnSpc>
                <a:spcPct val="130000"/>
              </a:lnSpc>
              <a:spcAft>
                <a:spcPts val="600"/>
              </a:spcAft>
            </a:pPr>
            <a:r>
              <a:rPr sz="1200" b="0">
                <a:solidFill>
                  <a:srgbClr val="45505E"/>
                </a:solidFill>
                <a:latin typeface="Segoe UI"/>
              </a:rPr>
              <a:t>Instagram formats with safe zones
enforced as a hard gate</a:t>
            </a:r>
          </a:p>
        </p:txBody>
      </p:sp>
      <p:sp>
        <p:nvSpPr>
          <p:cNvPr id="10" name="TextBox 9"/>
          <p:cNvSpPr txBox="1"/>
          <p:nvPr/>
        </p:nvSpPr>
        <p:spPr>
          <a:xfrm>
            <a:off x="786384" y="4160520"/>
            <a:ext cx="10424160" cy="3657600"/>
          </a:xfrm>
          <a:prstGeom prst="rect">
            <a:avLst/>
          </a:prstGeom>
          <a:noFill/>
        </p:spPr>
        <p:txBody>
          <a:bodyPr wrap="square" lIns="0" tIns="0" rIns="0" bIns="0" anchor="t">
            <a:spAutoFit/>
          </a:bodyPr>
          <a:lstStyle/>
          <a:p>
            <a:pPr algn="l">
              <a:lnSpc>
                <a:spcPct val="135000"/>
              </a:lnSpc>
              <a:spcAft>
                <a:spcPts val="1100"/>
              </a:spcAft>
            </a:pPr>
            <a:r>
              <a:rPr sz="1350" b="1">
                <a:solidFill>
                  <a:srgbClr val="141A22"/>
                </a:solidFill>
                <a:latin typeface="Segoe UI"/>
              </a:rPr>
              <a:t>Shaping is proven, not hoped for.  </a:t>
            </a:r>
            <a:r>
              <a:rPr sz="1350">
                <a:solidFill>
                  <a:srgbClr val="45505E"/>
                </a:solidFill>
                <a:latin typeface="Segoe UI"/>
              </a:rPr>
              <a:t>A test compares the rendered width of a conjunct against the same characters forced apart with a zero-width non-joiner. Without shaping the two widths match.</a:t>
            </a:r>
          </a:p>
          <a:p>
            <a:pPr algn="l">
              <a:lnSpc>
                <a:spcPct val="135000"/>
              </a:lnSpc>
              <a:spcAft>
                <a:spcPts val="1100"/>
              </a:spcAft>
            </a:pPr>
            <a:r>
              <a:rPr sz="1350" b="1">
                <a:solidFill>
                  <a:srgbClr val="141A22"/>
                </a:solidFill>
                <a:latin typeface="Segoe UI"/>
              </a:rPr>
              <a:t>Fidelity is measured against the original.  </a:t>
            </a:r>
            <a:r>
              <a:rPr sz="1350">
                <a:solidFill>
                  <a:srgbClr val="45505E"/>
                </a:solidFill>
                <a:latin typeface="Segoe UI"/>
              </a:rPr>
              <a:t>Synthetic buildings that gain a storey or a window are detected; a recoloured sky is not flagged, because only the subject is compared.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CHALLENGES</a:t>
            </a:r>
          </a:p>
          <a:p>
            <a:pPr algn="l">
              <a:lnSpc>
                <a:spcPct val="112000"/>
              </a:lnSpc>
              <a:spcAft>
                <a:spcPts val="600"/>
              </a:spcAft>
            </a:pPr>
            <a:r>
              <a:rPr sz="3000" b="1">
                <a:solidFill>
                  <a:srgbClr val="141A22"/>
                </a:solidFill>
                <a:latin typeface="Segoe UI"/>
              </a:rPr>
              <a:t>Problems met, and how they were solved</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12</a:t>
            </a:r>
          </a:p>
        </p:txBody>
      </p:sp>
      <p:sp>
        <p:nvSpPr>
          <p:cNvPr id="6" name="Rounded Rectangle 5"/>
          <p:cNvSpPr/>
          <p:nvPr/>
        </p:nvSpPr>
        <p:spPr>
          <a:xfrm>
            <a:off x="786384" y="2212848"/>
            <a:ext cx="3368954" cy="219456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432304"/>
            <a:ext cx="2893466" cy="175564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Every Microsoft image model had zero quota</a:t>
            </a:r>
          </a:p>
          <a:p>
            <a:pPr algn="l">
              <a:lnSpc>
                <a:spcPct val="134000"/>
              </a:lnSpc>
              <a:spcAft>
                <a:spcPts val="600"/>
              </a:spcAft>
            </a:pPr>
            <a:r>
              <a:rPr sz="1150" b="0">
                <a:solidFill>
                  <a:srgbClr val="45505E"/>
                </a:solidFill>
                <a:latin typeface="Segoe UI"/>
              </a:rPr>
              <a:t>Azure's own error: "the quota limit is 0". Both backends already implemented one interface, so switching to FLUX.2-pro cost a single configuration line.</a:t>
            </a:r>
          </a:p>
        </p:txBody>
      </p:sp>
      <p:sp>
        <p:nvSpPr>
          <p:cNvPr id="8" name="Rounded Rectangle 7"/>
          <p:cNvSpPr/>
          <p:nvPr/>
        </p:nvSpPr>
        <p:spPr>
          <a:xfrm>
            <a:off x="4411370" y="2212848"/>
            <a:ext cx="3368954" cy="219456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49114" y="2432304"/>
            <a:ext cx="2893466" cy="175564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Our own safety clause was being refused</a:t>
            </a:r>
          </a:p>
          <a:p>
            <a:pPr algn="l">
              <a:lnSpc>
                <a:spcPct val="134000"/>
              </a:lnSpc>
              <a:spcAft>
                <a:spcPts val="600"/>
              </a:spcAft>
            </a:pPr>
            <a:r>
              <a:rPr sz="1150" b="0">
                <a:solidFill>
                  <a:srgbClr val="45505E"/>
                </a:solidFill>
                <a:latin typeface="Segoe UI"/>
              </a:rPr>
              <a:t>A blocklist matches terms and cannot read negation, so "no national flag" reads as a prompt about flags. Constraining the frame positively excludes the same categories without naming them.</a:t>
            </a:r>
          </a:p>
        </p:txBody>
      </p:sp>
      <p:sp>
        <p:nvSpPr>
          <p:cNvPr id="10" name="Rounded Rectangle 9"/>
          <p:cNvSpPr/>
          <p:nvPr/>
        </p:nvSpPr>
        <p:spPr>
          <a:xfrm>
            <a:off x="8036356" y="2212848"/>
            <a:ext cx="3368954" cy="219456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4100" y="2432304"/>
            <a:ext cx="2893466" cy="1755648"/>
          </a:xfrm>
          <a:prstGeom prst="rect">
            <a:avLst/>
          </a:prstGeom>
          <a:noFill/>
        </p:spPr>
        <p:txBody>
          <a:bodyPr wrap="square" lIns="0" tIns="0" rIns="0" bIns="0" anchor="t">
            <a:spAutoFit/>
          </a:bodyPr>
          <a:lstStyle/>
          <a:p>
            <a:pPr algn="l">
              <a:lnSpc>
                <a:spcPct val="120000"/>
              </a:lnSpc>
              <a:spcAft>
                <a:spcPts val="700"/>
              </a:spcAft>
            </a:pPr>
            <a:r>
              <a:rPr sz="1550" b="1">
                <a:solidFill>
                  <a:srgbClr val="141A22"/>
                </a:solidFill>
                <a:latin typeface="Segoe UI"/>
              </a:rPr>
              <a:t>A single word broke every menswear brief</a:t>
            </a:r>
          </a:p>
          <a:p>
            <a:pPr algn="l">
              <a:lnSpc>
                <a:spcPct val="134000"/>
              </a:lnSpc>
              <a:spcAft>
                <a:spcPts val="600"/>
              </a:spcAft>
            </a:pPr>
            <a:r>
              <a:rPr sz="1150" b="0">
                <a:solidFill>
                  <a:srgbClr val="45505E"/>
                </a:solidFill>
                <a:latin typeface="Segoe UI"/>
              </a:rPr>
              <a:t>"men's" is on the provider blocklist. Found by probing the live filter — identical sentences, one word apart — and now stripped with a four-rung recovery ladder behind it.</a:t>
            </a:r>
          </a:p>
        </p:txBody>
      </p:sp>
      <p:sp>
        <p:nvSpPr>
          <p:cNvPr id="12" name="TextBox 11"/>
          <p:cNvSpPr txBox="1"/>
          <p:nvPr/>
        </p:nvSpPr>
        <p:spPr>
          <a:xfrm>
            <a:off x="786384" y="5212080"/>
            <a:ext cx="10424160" cy="731520"/>
          </a:xfrm>
          <a:prstGeom prst="rect">
            <a:avLst/>
          </a:prstGeom>
          <a:noFill/>
        </p:spPr>
        <p:txBody>
          <a:bodyPr wrap="square" lIns="0" tIns="0" rIns="0" bIns="0" anchor="t">
            <a:spAutoFit/>
          </a:bodyPr>
          <a:lstStyle/>
          <a:p>
            <a:pPr algn="l">
              <a:lnSpc>
                <a:spcPct val="135000"/>
              </a:lnSpc>
              <a:spcAft>
                <a:spcPts val="600"/>
              </a:spcAft>
            </a:pPr>
            <a:r>
              <a:rPr sz="1350" b="0">
                <a:solidFill>
                  <a:srgbClr val="45505E"/>
                </a:solidFill>
                <a:latin typeface="Segoe UI"/>
              </a:rPr>
              <a:t>Each was diagnosed by measurement rather than guesswork; the probe that found the blocked word cost three images and settled a question two days of reading had not.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LIMITATIONS AND FUTURE WORK</a:t>
            </a:r>
          </a:p>
          <a:p>
            <a:pPr algn="l">
              <a:lnSpc>
                <a:spcPct val="112000"/>
              </a:lnSpc>
              <a:spcAft>
                <a:spcPts val="600"/>
              </a:spcAft>
            </a:pPr>
            <a:r>
              <a:rPr sz="3000" b="1">
                <a:solidFill>
                  <a:srgbClr val="141A22"/>
                </a:solidFill>
                <a:latin typeface="Segoe UI"/>
              </a:rPr>
              <a:t>What is not built — stated plainly</a:t>
            </a:r>
          </a:p>
        </p:txBody>
      </p:sp>
      <p:sp>
        <p:nvSpPr>
          <p:cNvPr id="3" name="TextBox 2"/>
          <p:cNvSpPr txBox="1"/>
          <p:nvPr/>
        </p:nvSpPr>
        <p:spPr>
          <a:xfrm>
            <a:off x="786384" y="1783080"/>
            <a:ext cx="9326880" cy="822960"/>
          </a:xfrm>
          <a:prstGeom prst="rect">
            <a:avLst/>
          </a:prstGeom>
          <a:noFill/>
        </p:spPr>
        <p:txBody>
          <a:bodyPr wrap="square" lIns="0" tIns="0" rIns="0" bIns="0" anchor="t">
            <a:spAutoFit/>
          </a:bodyPr>
          <a:lstStyle/>
          <a:p>
            <a:pPr algn="l">
              <a:lnSpc>
                <a:spcPct val="135000"/>
              </a:lnSpc>
              <a:spcAft>
                <a:spcPts val="600"/>
              </a:spcAft>
            </a:pPr>
            <a:r>
              <a:rPr sz="1500" b="0">
                <a:solidFill>
                  <a:srgbClr val="45505E"/>
                </a:solidFill>
                <a:latin typeface="Segoe UI"/>
              </a:rPr>
              <a:t>Claiming completeness that does not exist would be the least defensible thing in this report.</a:t>
            </a:r>
          </a:p>
        </p:txBody>
      </p:sp>
      <p:sp>
        <p:nvSpPr>
          <p:cNvPr id="4" name="Rectangle 3"/>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6" name="TextBox 5"/>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13</a:t>
            </a:r>
          </a:p>
        </p:txBody>
      </p:sp>
      <p:sp>
        <p:nvSpPr>
          <p:cNvPr id="7" name="TextBox 6"/>
          <p:cNvSpPr txBox="1"/>
          <p:nvPr/>
        </p:nvSpPr>
        <p:spPr>
          <a:xfrm>
            <a:off x="786384" y="2743200"/>
            <a:ext cx="10424160" cy="3657600"/>
          </a:xfrm>
          <a:prstGeom prst="rect">
            <a:avLst/>
          </a:prstGeom>
          <a:noFill/>
        </p:spPr>
        <p:txBody>
          <a:bodyPr wrap="square" lIns="0" tIns="0" rIns="0" bIns="0" anchor="t">
            <a:spAutoFit/>
          </a:bodyPr>
          <a:lstStyle/>
          <a:p>
            <a:pPr algn="l">
              <a:lnSpc>
                <a:spcPct val="135000"/>
              </a:lnSpc>
              <a:spcAft>
                <a:spcPts val="1100"/>
              </a:spcAft>
            </a:pPr>
            <a:r>
              <a:rPr sz="1350" b="1">
                <a:solidFill>
                  <a:srgbClr val="141A22"/>
                </a:solidFill>
                <a:latin typeface="Segoe UI"/>
              </a:rPr>
              <a:t>Content safety.  </a:t>
            </a:r>
            <a:r>
              <a:rPr sz="1350">
                <a:solidFill>
                  <a:srgbClr val="45505E"/>
                </a:solidFill>
                <a:latin typeface="Segoe UI"/>
              </a:rPr>
              <a:t>Foundry provides no built-in filtering for FLUX, so output screening is entirely ours and is not yet implemented.</a:t>
            </a:r>
          </a:p>
          <a:p>
            <a:pPr algn="l">
              <a:lnSpc>
                <a:spcPct val="135000"/>
              </a:lnSpc>
              <a:spcAft>
                <a:spcPts val="1100"/>
              </a:spcAft>
            </a:pPr>
            <a:r>
              <a:rPr sz="1350" b="1">
                <a:solidFill>
                  <a:srgbClr val="141A22"/>
                </a:solidFill>
                <a:latin typeface="Segoe UI"/>
              </a:rPr>
              <a:t>Provenance and AI disclosure.  </a:t>
            </a:r>
            <a:r>
              <a:rPr sz="1350">
                <a:solidFill>
                  <a:srgbClr val="45505E"/>
                </a:solidFill>
                <a:latin typeface="Segoe UI"/>
              </a:rPr>
              <a:t>MeitY's IT Amendment Rules took effect 20 February 2026; synthetic visual content must be labelled. C2PA signing is designed but not built.</a:t>
            </a:r>
          </a:p>
          <a:p>
            <a:pPr algn="l">
              <a:lnSpc>
                <a:spcPct val="135000"/>
              </a:lnSpc>
              <a:spcAft>
                <a:spcPts val="1100"/>
              </a:spcAft>
            </a:pPr>
            <a:r>
              <a:rPr sz="1350" b="1">
                <a:solidFill>
                  <a:srgbClr val="141A22"/>
                </a:solidFill>
                <a:latin typeface="Segoe UI"/>
              </a:rPr>
              <a:t>OCR zero-text gate.  </a:t>
            </a:r>
            <a:r>
              <a:rPr sz="1350">
                <a:solidFill>
                  <a:srgbClr val="45505E"/>
                </a:solidFill>
                <a:latin typeface="Segoe UI"/>
              </a:rPr>
              <a:t>The base is asked to contain no text; that is not yet verified automatically for the scripts OCR can read.</a:t>
            </a:r>
          </a:p>
          <a:p>
            <a:pPr algn="l">
              <a:lnSpc>
                <a:spcPct val="135000"/>
              </a:lnSpc>
              <a:spcAft>
                <a:spcPts val="1100"/>
              </a:spcAft>
            </a:pPr>
            <a:r>
              <a:rPr sz="1350" b="1">
                <a:solidFill>
                  <a:srgbClr val="141A22"/>
                </a:solidFill>
                <a:latin typeface="Segoe UI"/>
              </a:rPr>
              <a:t>Category compliance.  </a:t>
            </a:r>
            <a:r>
              <a:rPr sz="1350">
                <a:solidFill>
                  <a:srgbClr val="45505E"/>
                </a:solidFill>
                <a:latin typeface="Segoe UI"/>
              </a:rPr>
              <a:t>RERA numbers for real estate, FSSAI for food, and unsubstantiated superlatives in every language.</a:t>
            </a:r>
          </a:p>
          <a:p>
            <a:pPr algn="l">
              <a:lnSpc>
                <a:spcPct val="135000"/>
              </a:lnSpc>
              <a:spcAft>
                <a:spcPts val="1100"/>
              </a:spcAft>
            </a:pPr>
            <a:r>
              <a:rPr sz="1350" b="1">
                <a:solidFill>
                  <a:srgbClr val="141A22"/>
                </a:solidFill>
                <a:latin typeface="Segoe UI"/>
              </a:rPr>
              <a:t>Persistence.  </a:t>
            </a:r>
            <a:r>
              <a:rPr sz="1350">
                <a:solidFill>
                  <a:srgbClr val="45505E"/>
                </a:solidFill>
                <a:latin typeface="Segoe UI"/>
              </a:rPr>
              <a:t>Jobs live in memory and do not survive a restart; fonts are not yet bundled and pinned.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86384" y="530352"/>
            <a:ext cx="10618927" cy="1463040"/>
          </a:xfrm>
          <a:prstGeom prst="rect">
            <a:avLst/>
          </a:prstGeom>
          <a:noFill/>
        </p:spPr>
        <p:txBody>
          <a:bodyPr wrap="square" lIns="0" tIns="0" rIns="0" bIns="0" anchor="t">
            <a:spAutoFit/>
          </a:bodyPr>
          <a:lstStyle/>
          <a:p>
            <a:pPr algn="l">
              <a:lnSpc>
                <a:spcPct val="135000"/>
              </a:lnSpc>
              <a:spcAft>
                <a:spcPts val="700"/>
              </a:spcAft>
            </a:pPr>
            <a:r>
              <a:rPr sz="1150" b="1">
                <a:solidFill>
                  <a:srgbClr val="0D7A55"/>
                </a:solidFill>
                <a:latin typeface="Segoe UI"/>
              </a:rPr>
              <a:t>CONCLUSION</a:t>
            </a:r>
          </a:p>
          <a:p>
            <a:pPr algn="l">
              <a:lnSpc>
                <a:spcPct val="112000"/>
              </a:lnSpc>
              <a:spcAft>
                <a:spcPts val="600"/>
              </a:spcAft>
            </a:pPr>
            <a:r>
              <a:rPr sz="3000" b="1">
                <a:solidFill>
                  <a:srgbClr val="141A22"/>
                </a:solidFill>
                <a:latin typeface="Segoe UI"/>
              </a:rPr>
              <a:t>One architectural decision carries the project</a:t>
            </a:r>
          </a:p>
        </p:txBody>
      </p:sp>
      <p:sp>
        <p:nvSpPr>
          <p:cNvPr id="3" name="Rectangle 2"/>
          <p:cNvSpPr/>
          <p:nvPr/>
        </p:nvSpPr>
        <p:spPr>
          <a:xfrm>
            <a:off x="786384" y="6144768"/>
            <a:ext cx="10618927" cy="9525"/>
          </a:xfrm>
          <a:prstGeom prst="rect">
            <a:avLst/>
          </a:prstGeom>
          <a:solidFill>
            <a:srgbClr val="DD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6254496"/>
            <a:ext cx="10618927" cy="274320"/>
          </a:xfrm>
          <a:prstGeom prst="rect">
            <a:avLst/>
          </a:prstGeom>
          <a:noFill/>
        </p:spPr>
        <p:txBody>
          <a:bodyPr wrap="square" lIns="0" tIns="0" rIns="0" bIns="0" anchor="t">
            <a:spAutoFit/>
          </a:bodyPr>
          <a:lstStyle/>
          <a:p>
            <a:pPr algn="l">
              <a:lnSpc>
                <a:spcPct val="135000"/>
              </a:lnSpc>
              <a:spcAft>
                <a:spcPts val="600"/>
              </a:spcAft>
            </a:pPr>
            <a:r>
              <a:rPr sz="950" b="0">
                <a:solidFill>
                  <a:srgbClr val="768190"/>
                </a:solidFill>
                <a:latin typeface="Segoe UI"/>
              </a:rPr>
              <a:t>BrandlyAI · Social Media Content Generation in Multiple Languages</a:t>
            </a:r>
          </a:p>
        </p:txBody>
      </p:sp>
      <p:sp>
        <p:nvSpPr>
          <p:cNvPr id="5" name="TextBox 4"/>
          <p:cNvSpPr txBox="1"/>
          <p:nvPr/>
        </p:nvSpPr>
        <p:spPr>
          <a:xfrm>
            <a:off x="10490911" y="6254496"/>
            <a:ext cx="914400" cy="274320"/>
          </a:xfrm>
          <a:prstGeom prst="rect">
            <a:avLst/>
          </a:prstGeom>
          <a:noFill/>
        </p:spPr>
        <p:txBody>
          <a:bodyPr wrap="square" lIns="0" tIns="0" rIns="0" bIns="0" anchor="t">
            <a:spAutoFit/>
          </a:bodyPr>
          <a:lstStyle/>
          <a:p>
            <a:pPr algn="r">
              <a:lnSpc>
                <a:spcPct val="135000"/>
              </a:lnSpc>
              <a:spcAft>
                <a:spcPts val="600"/>
              </a:spcAft>
            </a:pPr>
            <a:r>
              <a:rPr sz="950" b="0">
                <a:solidFill>
                  <a:srgbClr val="768190"/>
                </a:solidFill>
                <a:latin typeface="Segoe UI"/>
              </a:rPr>
              <a:t>14</a:t>
            </a:r>
          </a:p>
        </p:txBody>
      </p:sp>
      <p:sp>
        <p:nvSpPr>
          <p:cNvPr id="6" name="TextBox 5"/>
          <p:cNvSpPr txBox="1"/>
          <p:nvPr/>
        </p:nvSpPr>
        <p:spPr>
          <a:xfrm>
            <a:off x="786384" y="2212848"/>
            <a:ext cx="10424160" cy="2194560"/>
          </a:xfrm>
          <a:prstGeom prst="rect">
            <a:avLst/>
          </a:prstGeom>
          <a:noFill/>
        </p:spPr>
        <p:txBody>
          <a:bodyPr wrap="square" lIns="0" tIns="0" rIns="0" bIns="0" anchor="t">
            <a:spAutoFit/>
          </a:bodyPr>
          <a:lstStyle/>
          <a:p>
            <a:pPr algn="l">
              <a:lnSpc>
                <a:spcPct val="140000"/>
              </a:lnSpc>
              <a:spcAft>
                <a:spcPts val="600"/>
              </a:spcAft>
            </a:pPr>
            <a:r>
              <a:rPr sz="1800" b="0">
                <a:solidFill>
                  <a:srgbClr val="141A22"/>
                </a:solidFill>
                <a:latin typeface="Segoe UI"/>
              </a:rPr>
              <a:t>Generating one text-free image and compositing every language on top is not an optimisation. It is what makes correct Indic typography possible at all, and it is what makes the seventh language free.</a:t>
            </a:r>
          </a:p>
          <a:p>
            <a:pPr algn="l">
              <a:lnSpc>
                <a:spcPct val="145000"/>
              </a:lnSpc>
              <a:spcAft>
                <a:spcPts val="0"/>
              </a:spcAft>
            </a:pPr>
            <a:r>
              <a:rPr sz="1500" b="0">
                <a:solidFill>
                  <a:srgbClr val="45505E"/>
                </a:solidFill>
                <a:latin typeface="Segoe UI"/>
              </a:rPr>
              <a:t>Three measured platform constraints pointed at the same design. The system that follows is cheaper, verifiable, and honest about what it does not yet do.</a:t>
            </a:r>
          </a:p>
        </p:txBody>
      </p:sp>
      <p:sp>
        <p:nvSpPr>
          <p:cNvPr id="7" name="Rounded Rectangle 6"/>
          <p:cNvSpPr/>
          <p:nvPr/>
        </p:nvSpPr>
        <p:spPr>
          <a:xfrm>
            <a:off x="786384" y="4572000"/>
            <a:ext cx="10618927" cy="1371600"/>
          </a:xfrm>
          <a:prstGeom prst="roundRect">
            <a:avLst>
              <a:gd name="adj" fmla="val 4000"/>
            </a:avLst>
          </a:prstGeom>
          <a:solidFill>
            <a:srgbClr val="F6F8FA"/>
          </a:solidFill>
          <a:ln w="1270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791456"/>
            <a:ext cx="9997135" cy="1005840"/>
          </a:xfrm>
          <a:prstGeom prst="rect">
            <a:avLst/>
          </a:prstGeom>
          <a:noFill/>
        </p:spPr>
        <p:txBody>
          <a:bodyPr wrap="square" lIns="0" tIns="0" rIns="0" bIns="0" anchor="t">
            <a:spAutoFit/>
          </a:bodyPr>
          <a:lstStyle/>
          <a:p>
            <a:pPr algn="l">
              <a:lnSpc>
                <a:spcPct val="135000"/>
              </a:lnSpc>
              <a:spcAft>
                <a:spcPts val="700"/>
              </a:spcAft>
            </a:pPr>
            <a:r>
              <a:rPr sz="1050" b="1">
                <a:solidFill>
                  <a:srgbClr val="0D7A55"/>
                </a:solidFill>
                <a:latin typeface="Segoe UI"/>
              </a:rPr>
              <a:t>Repository</a:t>
            </a:r>
          </a:p>
          <a:p>
            <a:pPr algn="l">
              <a:lnSpc>
                <a:spcPct val="130000"/>
              </a:lnSpc>
              <a:spcAft>
                <a:spcPts val="600"/>
              </a:spcAft>
            </a:pPr>
            <a:r>
              <a:rPr sz="1500" b="0">
                <a:solidFill>
                  <a:srgbClr val="141A22"/>
                </a:solidFill>
                <a:latin typeface="Segoe UI"/>
              </a:rPr>
              <a:t>github.com/rudrakshxgupta/marketing-campaign-generator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1785</Words>
  <Application>Microsoft Office PowerPoint</Application>
  <PresentationFormat>Widescreen</PresentationFormat>
  <Paragraphs>171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RUDRAKSH GUPTA</cp:lastModifiedBy>
  <cp:revision>1</cp:revision>
  <dcterms:created xsi:type="dcterms:W3CDTF">2013-01-27T09:14:16Z</dcterms:created>
  <dcterms:modified xsi:type="dcterms:W3CDTF">2026-09-23T14:13:00Z</dcterms:modified>
  <cp:category/>
</cp:coreProperties>
</file>